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A368D1-08A3-45A7-8DC6-A38A46813B45}"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D56BE6-505C-4287-83DC-784B340360B5}" type="slidenum">
              <a:rPr lang="en-US" smtClean="0"/>
              <a:t>‹#›</a:t>
            </a:fld>
            <a:endParaRPr lang="en-US"/>
          </a:p>
        </p:txBody>
      </p:sp>
    </p:spTree>
    <p:extLst>
      <p:ext uri="{BB962C8B-B14F-4D97-AF65-F5344CB8AC3E}">
        <p14:creationId xmlns:p14="http://schemas.microsoft.com/office/powerpoint/2010/main" val="1700685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Em xin trình bày đồ án ThoXay, ứng dụng kết nối lao động phổ thông và Chủ thầu. Phần trình bày tập trung vào quy trình có thể kiểm chứng từ tìm công trình, chốt hợp tác đến ghi nhận ca làm và thanh toán nội bộ. Sản phẩm có Flutter Web/Android và trang Admin. Dữ liệu trong ảnh đều thuộc môi trường DEMO riêng, không đại diện người dùng hay giao dịch thật. Sau phần kiến trúc và kết quả, em sẽ thao tác trực tiếp trên hai vai trò và Admin.
Nguồn: docs/BAO_CAO_DO_AN.md, docs/DEMO.md. Chốt số liệu 30/10/2026.</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a:t>
            </a:fld>
            <a:endParaRPr lang="en-US"/>
          </a:p>
        </p:txBody>
      </p:sp>
    </p:spTree>
    <p:extLst>
      <p:ext uri="{BB962C8B-B14F-4D97-AF65-F5344CB8AC3E}">
        <p14:creationId xmlns:p14="http://schemas.microsoft.com/office/powerpoint/2010/main" val="1379502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Bài toán đặt ra là thông tin tuyển dụng thường gắn chặt với địa điểm, thời gian và mức lương. Thợ cần so sánh cơ hội quanh một khu vực, còn Chủ thầu cần tập hợp ứng viên và biết ngày công đã được nghiệm thu. Đồ án cung cấp cùng một luồng dữ liệu để theo dõi các trạng thái đó. Đây là nhu cầu thiết kế của sản phẩm. Em chưa có khảo sát thị trường đủ mẫu để khẳng định tỷ lệ tăng hiệu quả hay năng suất. Ảnh bên phải minh họa giao diện Chủ thầu trên màn hình nhỏ.
Nguồn: Chương 1 báo cáo; mobile_app/lib/screens/contractor_home_screen.dart.</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2</a:t>
            </a:fld>
            <a:endParaRPr lang="en-US"/>
          </a:p>
        </p:txBody>
      </p:sp>
    </p:spTree>
    <p:extLst>
      <p:ext uri="{BB962C8B-B14F-4D97-AF65-F5344CB8AC3E}">
        <p14:creationId xmlns:p14="http://schemas.microsoft.com/office/powerpoint/2010/main" val="621089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Hệ thống có ba vai trò rõ ràng. Thợ tìm việc, ứng tuyển và thực hiện ca. Chủ thầu đăng công trình, quyết định giá và nghiệm thu. Admin duyệt KYC, quản lý và đối soát. Đăng ký công khai chỉ có Thợ và Chủ thầu. Mỗi service vẫn kiểm tra quyền sở hữu dữ liệu hoặc trạng thái ACCEPTED, nên việc biết ID hay có JWT không cho phép đọc toàn bộ hệ thống. Sơ đồ này rút gọn để trình chiếu; sơ đồ chức năng chi tiết nằm trong báo cáo.
Nguồn: SecurityConfig, CurrentUser và docs/diagrams/slide-diagrams.md.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3</a:t>
            </a:fld>
            <a:endParaRPr lang="en-US"/>
          </a:p>
        </p:txBody>
      </p:sp>
    </p:spTree>
    <p:extLst>
      <p:ext uri="{BB962C8B-B14F-4D97-AF65-F5344CB8AC3E}">
        <p14:creationId xmlns:p14="http://schemas.microsoft.com/office/powerpoint/2010/main" val="3879712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Flutter Web được phục vụ từ Vercel. APK và Web gọi cùng REST JWT/WebSocket của Spring Boot trên Render. Thymeleaf Admin nằm cùng Backend và dùng phiên đăng nhập. PostgreSQL lưu dữ liệu nghiệp vụ và ảnh riêng tư. Backend là modular monolith, chia package theo trách nhiệm nhưng dùng cùng transaction khi duyệt thợ hoặc ghi sổ. GitHub Actions kiểm tra và tạo APK, trong khi Render/Vercel nhận thay đổi từ main. Cấu hình bí mật nằm ngoài Git.
Nguồn: Dockerfile, render.yaml, vercel.json, .github/workflows và SecurityConfig.</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4</a:t>
            </a:fld>
            <a:endParaRPr lang="en-US"/>
          </a:p>
        </p:txBody>
      </p:sp>
    </p:spTree>
    <p:extLst>
      <p:ext uri="{BB962C8B-B14F-4D97-AF65-F5344CB8AC3E}">
        <p14:creationId xmlns:p14="http://schemas.microsoft.com/office/powerpoint/2010/main" val="1801821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Phiên bản được đọc từ mã cấu hình và bản build, không suy đoán từ tên sản phẩm. Java target 17, Spring Boot 3.5.16 và PostgreSQL cloud major 17. Flutter ghim 3.47.8. Spring Security cùng JJWT bảo vệ API, còn Admin dùng Thymeleaf/Bootstrap. flutter_map hiển thị OSM, image_picker hỗ trợ ảnh, mobile_scanner đọc QR ca làm và qr_flutter hiển thị payload QR. Các dependency resolve đầy đủ có trong báo cáo và lockfile. Dịch vụ cloud không có một số version ứng dụng được ghim như thư viện.
Nguồn: pom.xml, .flutter-version, mobile_app/pubspec.lock.</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5</a:t>
            </a:fld>
            <a:endParaRPr lang="en-US"/>
          </a:p>
        </p:txBody>
      </p:sp>
    </p:spTree>
    <p:extLst>
      <p:ext uri="{BB962C8B-B14F-4D97-AF65-F5344CB8AC3E}">
        <p14:creationId xmlns:p14="http://schemas.microsoft.com/office/powerpoint/2010/main" val="384586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Kiểm kê thực tế có 30 bảng nghiệp vụ và 256 cột, không cộng flyway_schema_history vào bảng nghiệp vụ. Hình chỉ lấy lõi users, jobs và job_applications để thấy quan hệ một-nhiều. Mỗi cặp job/worker có một đơn duy nhất. Những phân hệ mới bổ sung lịch, tổ đội, chấm công, ledger, KYC, chat và sự cố. Báo cáo có đầy đủ từ điển dữ liệu và ERD theo phân hệ, cùng 111 ánh xạ HTTP gồm 90 dưới /api/. Không nhầm route Admin hoặc WebSocket với số REST endpoint.
Nguồn: docs/PROJECT_INVENTORY.json, schema.sql và docs/diagrams/slide-diagrams.md.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6</a:t>
            </a:fld>
            <a:endParaRPr lang="en-US"/>
          </a:p>
        </p:txBody>
      </p:sp>
    </p:spTree>
    <p:extLst>
      <p:ext uri="{BB962C8B-B14F-4D97-AF65-F5344CB8AC3E}">
        <p14:creationId xmlns:p14="http://schemas.microsoft.com/office/powerpoint/2010/main" val="197820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Thợ chọn tâm tìm việc bằng GPS hoặc chọn vị trí tìm kiếm thủ công. Server dùng Haversine để lọc bán kính và có thêm điều kiện loại việc, trạng thái OPEN và sắp xếp lương. Bản đồ hiển thị ghim có lương, chọn ghim xem tóm tắt, lưu và chia sẻ công trình, mở chỉ đường. Ảnh là các công trình DEMO ở khu vực TP.HCM; attribution OSM vẫn hiện. Chọn tâm tìm kiếm không được xem như chứng cứ GPS để chấm công. Khi dữ liệu lớn cần đo truy vấn và cân nhắc PostGIS.
Nguồn: JobRepository, JobsMap, job_utilities.dart. Bản đồ © OpenStreetMap contributors.</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7</a:t>
            </a:fld>
            <a:endParaRPr lang="en-US"/>
          </a:p>
        </p:txBody>
      </p:sp>
    </p:spTree>
    <p:extLst>
      <p:ext uri="{BB962C8B-B14F-4D97-AF65-F5344CB8AC3E}">
        <p14:creationId xmlns:p14="http://schemas.microsoft.com/office/powerpoint/2010/main" val="2325509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Lương đề xuất và lương đã chốt được lưu riêng. Thợ phải đồng ý đúng termsVersion, Chủ thầu quyết định giá, server giữ snapshot cam kết cùng hash. Khi duyệt, transaction khóa công trình rồi các worker theo thứ tự để kiểm tra công suất và lịch. Tổ đội dùng các tài khoản đã xác nhận, mỗi người có đơn và cam kết riêng; duyệt nguyên nhóm là atomic. Nếu một người không đủ điều kiện, cả lượt duyệt không hoàn tất. Hash không thay thế chữ ký số.
Nguồn: CommitmentService, WorkerCalendarService, CrewService và ApplicationService.</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8</a:t>
            </a:fld>
            <a:endParaRPr lang="en-US"/>
          </a:p>
        </p:txBody>
      </p:sp>
    </p:spTree>
    <p:extLst>
      <p:ext uri="{BB962C8B-B14F-4D97-AF65-F5344CB8AC3E}">
        <p14:creationId xmlns:p14="http://schemas.microsoft.com/office/powerpoint/2010/main" val="727439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Chấm công ghi nhận ngày Việt Nam bằng GPS trong 200m, accuracy tối đa 100m hoặc QR ca làm có hạn 5 phút. Server ghi giờ, giới hạn một ca cho mỗi đơn/ngày. Thợ gửi ảnh sau checkout để Chủ thầu duyệt hoặc yêu cầu bổ sung. Công trình mới yêu cầu đủ ca và ảnh APPROVED trước khi trả ngày công tương ứng. QR/GPS chưa chống gian lận tuyệt đối, ca qua đêm chưa hỗ trợ. Ảnh chụp cho thấy ca mẫu đã có dữ liệu, không phải công trình thực tế của người dùng.
Nguồn: AttendanceService, WorkLog, JobPaymentService và docs/DEMO.md.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9</a:t>
            </a:fld>
            <a:endParaRPr lang="en-US"/>
          </a:p>
        </p:txBody>
      </p:sp>
    </p:spTree>
    <p:extLst>
      <p:ext uri="{BB962C8B-B14F-4D97-AF65-F5344CB8AC3E}">
        <p14:creationId xmlns:p14="http://schemas.microsoft.com/office/powerpoint/2010/main" val="2757508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Ví chia số dư khả dụng, ký quỹ và tiền giữ chỗ rút. Rút tiền giữ main sang held trước để tránh tiêu trùng. Dưới 200.000đ ký quỹ chỉ cảnh báo, chưa chặn nhận việc. Biểu đồ lấy từ ledger theo ngày Việt Nam và không tính TOP_UP như thu nhập. VietQR điền sẵn người nhận, số tiền và nội dung, nhưng yêu cầu vẫn chờ Admin đối soát. BIN 000000 trong demo không dùng thanh toán, tuyệt đối không chuyển tiền theo QR mẫu. Dự án chưa có ngân hàng tự chuyển tiền.
Nguồn: WalletService, JobPaymentService, DepositService, VietQrPayload và docs/WALLET.md.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10</a:t>
            </a:fld>
            <a:endParaRPr lang="en-US"/>
          </a:p>
        </p:txBody>
      </p:sp>
    </p:spTree>
    <p:extLst>
      <p:ext uri="{BB962C8B-B14F-4D97-AF65-F5344CB8AC3E}">
        <p14:creationId xmlns:p14="http://schemas.microsoft.com/office/powerpoint/2010/main" val="2828853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Sao là trung bình điểm công trình hoàn thành, còn uy tín là điểm từ 0 đến 100 có lịch sử sự kiện. GOLD cần ít nhất 5 công trình, sao 4.0 và uy tín 80. DIAMOND cần 20 công trình, sao 4.7, uy tín 95 và KYC. Hủy đơn ACCEPTED trừ 15 điểm một lần rồi tính lại bậc, không tự trừ tiền. Top 3 ở ảnh được truy vấn từ các đơn, sao và công trình DEMO đã hoàn thành. Không trình bày rating mẫu như chứng nhận nghề nghiệp thật.
Nguồn: WorkerTier, WorkerRankingService, WorkerRatingService và ApplicationCancellationService.</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11</a:t>
            </a:fld>
            <a:endParaRPr lang="en-US"/>
          </a:p>
        </p:txBody>
      </p:sp>
    </p:spTree>
    <p:extLst>
      <p:ext uri="{BB962C8B-B14F-4D97-AF65-F5344CB8AC3E}">
        <p14:creationId xmlns:p14="http://schemas.microsoft.com/office/powerpoint/2010/main" val="3187812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REST lưu tin, WebSocket phát sau commit. ClientMessageId chống tạo thêm tin khi retry cùng payload, history khôi phục khi mất kết nối. Chữ, ảnh và GPS chỉ mở giữa cặp ACCEPTED; ảnh có ACL riêng. Hộp thư dùng read cursor tăng đơn điệu cho số tin chưa đọc. Sự cố/SOS gửi riêng tới Admin và có audit, không tự gọi cứu hộ. Lịch sử thông báo hoạt động trong DB; FCM cần Firebase/service account và token hợp lệ, hiện chưa có cấu hình production để tuyên bố gửi push thật.
Nguồn: MessageService, ChatAccessService, ChatInboxService, IncidentService và notification package.</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12</a:t>
            </a:fld>
            <a:endParaRPr lang="en-US"/>
          </a:p>
        </p:txBody>
      </p:sp>
    </p:spTree>
    <p:extLst>
      <p:ext uri="{BB962C8B-B14F-4D97-AF65-F5344CB8AC3E}">
        <p14:creationId xmlns:p14="http://schemas.microsoft.com/office/powerpoint/2010/main" val="119461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KYC tự động kiểm tra tệp, giới hạn kích thước, chuẩn hóa ảnh và bỏ metadata. Admin mới là người duyệt danh tính. Modal tải hai mặt khi mở và có lightbox; cần hai ảnh đầy đủ, khớp snapshot đã xem mới duyệt. Ảnh ở đây có dấu DEMO, không phải CCCD người thật. Giao diện Admin còn có KPI, lọc bảng, đối soát ví và hàng chờ sự cố. Mọi thao tác quản trị được kiểm tra ở Backend, không chỉ phụ thuộc nút ẩn hoặc JavaScript.
Nguồn: KycService, AdminService, admin-dashboard.html, admin-kyc.js và docs/KYC_CAMERA.md.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13</a:t>
            </a:fld>
            <a:endParaRPr lang="en-US"/>
          </a:p>
        </p:txBody>
      </p:sp>
    </p:spTree>
    <p:extLst>
      <p:ext uri="{BB962C8B-B14F-4D97-AF65-F5344CB8AC3E}">
        <p14:creationId xmlns:p14="http://schemas.microsoft.com/office/powerpoint/2010/main" val="14513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Kết quả local đã kiểm chứng: 125 test Backend, 110 Flutter và 12 JavaScript pass, thêm 6 test bảo vệ seed Python. Hai test Flutter mới kiểm tra khung Tổ đội và nhãn QR demo, tăng từ mốc 108. Bộ Backend chạy JVM UTC và có PostgreSQL migration QA riêng. Maven JAR, Flutter Web và workflow APK được kiểm tra. 100% số test này pass không đồng nghĩa coverage 100% hoặc mọi thiết bị đều không lỗi. Chưa có kiểm thử tải lớn hoặc quét QR bằng ứng dụng ngân hàng thật.
Nguồn: src/test/java, mobile_app/test, scripts/tests và GitHub Actions của repository.</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14</a:t>
            </a:fld>
            <a:endParaRPr lang="en-US"/>
          </a:p>
        </p:txBody>
      </p:sp>
    </p:spTree>
    <p:extLst>
      <p:ext uri="{BB962C8B-B14F-4D97-AF65-F5344CB8AC3E}">
        <p14:creationId xmlns:p14="http://schemas.microsoft.com/office/powerpoint/2010/main" val="2050988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a:latin typeface="Arial" panose="020B0604020202020204" pitchFamily="34" charset="0"/>
              </a:rPr>
              <a:t>Đồ án đã khép kín luồng kết nối, ca làm, đánh giá và sổ ví trong phạm vi đã kiểm chứng. Những đóng góp có thể mở mã để chứng minh gồm khóa transaction theo thứ tự, snapshot cam kết/ngân hàng, ảnh riêng tư, idempotency và kiểm thử timezone. Bước tiếp theo ưu tiên thiết bị Android thật, ca qua đêm, quan trắc và backup. eKYC, FCM production và đối soát ngân hàng chỉ triển khai khi có cấu hình/dịch vụ phù hợp. Em xin chuyển sang phần demo và tiếp nhận câu hỏi của Hội đồng.
Nguồn: Chương 5 báo cáo và docs/KICH_BAN_DEMO_VA_HOI_DAP.md.</a:t>
            </a:r>
            <a:endParaRPr lang="en-US" sz="14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CD56BE6-505C-4287-83DC-784B340360B5}" type="slidenum">
              <a:rPr lang="en-US" smtClean="0"/>
              <a:t>15</a:t>
            </a:fld>
            <a:endParaRPr lang="en-US"/>
          </a:p>
        </p:txBody>
      </p:sp>
    </p:spTree>
    <p:extLst>
      <p:ext uri="{BB962C8B-B14F-4D97-AF65-F5344CB8AC3E}">
        <p14:creationId xmlns:p14="http://schemas.microsoft.com/office/powerpoint/2010/main" val="270080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hoXay">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ThoXay 01">
    <p:bg>
      <p:bgPr>
        <a:solidFill>
          <a:srgbClr val="0F172A"/>
        </a:solidFill>
        <a:effectLst/>
      </p:bgPr>
    </p:bg>
    <p:spTree>
      <p:nvGrpSpPr>
        <p:cNvPr id="1" name=""/>
        <p:cNvGrpSpPr/>
        <p:nvPr/>
      </p:nvGrpSpPr>
      <p:grpSpPr>
        <a:xfrm>
          <a:off x="0" y="0"/>
          <a:ext cx="0" cy="0"/>
          <a:chOff x="0" y="0"/>
          <a:chExt cx="0" cy="0"/>
        </a:xfrm>
      </p:grpSpPr>
      <p:sp>
        <p:nvSpPr>
          <p:cNvPr id="2" name="text-1-2"/>
          <p:cNvSpPr txBox="1"/>
          <p:nvPr/>
        </p:nvSpPr>
        <p:spPr>
          <a:xfrm>
            <a:off x="685800" y="609600"/>
            <a:ext cx="10477500" cy="381000"/>
          </a:xfrm>
          <a:prstGeom prst="rect">
            <a:avLst/>
          </a:prstGeom>
          <a:noFill/>
          <a:ln>
            <a:noFill/>
          </a:ln>
        </p:spPr>
        <p:txBody>
          <a:bodyPr wrap="square" lIns="0" tIns="0" rIns="0" bIns="0" anchor="t">
            <a:noAutofit/>
          </a:bodyPr>
          <a:lstStyle/>
          <a:p>
            <a:pPr>
              <a:lnSpc>
                <a:spcPct val="112000"/>
              </a:lnSpc>
              <a:spcAft>
                <a:spcPts val="700"/>
              </a:spcAft>
            </a:pPr>
            <a:r>
              <a:rPr lang="vi-VN" sz="1650" b="0">
                <a:solidFill>
                  <a:srgbClr val="CBD5E1"/>
                </a:solidFill>
                <a:latin typeface="Arial"/>
                <a:ea typeface="Arial"/>
                <a:cs typeface="Arial"/>
              </a:rPr>
              <a:t>ĐỒ ÁN TỐT NGHIỆP</a:t>
            </a:r>
            <a:endParaRPr lang="vi-VN" sz="1650"/>
          </a:p>
        </p:txBody>
      </p:sp>
      <p:sp>
        <p:nvSpPr>
          <p:cNvPr id="3" name="text-1-3"/>
          <p:cNvSpPr txBox="1"/>
          <p:nvPr/>
        </p:nvSpPr>
        <p:spPr>
          <a:xfrm>
            <a:off x="685800" y="1581150"/>
            <a:ext cx="10477500" cy="1314450"/>
          </a:xfrm>
          <a:prstGeom prst="rect">
            <a:avLst/>
          </a:prstGeom>
          <a:noFill/>
          <a:ln>
            <a:noFill/>
          </a:ln>
        </p:spPr>
        <p:txBody>
          <a:bodyPr wrap="square" lIns="0" tIns="0" rIns="0" bIns="0" anchor="t">
            <a:noAutofit/>
          </a:bodyPr>
          <a:lstStyle/>
          <a:p>
            <a:pPr>
              <a:lnSpc>
                <a:spcPct val="112000"/>
              </a:lnSpc>
              <a:spcAft>
                <a:spcPts val="700"/>
              </a:spcAft>
            </a:pPr>
            <a:r>
              <a:rPr lang="vi-VN" sz="8400" b="1">
                <a:solidFill>
                  <a:srgbClr val="FFFFFF"/>
                </a:solidFill>
                <a:latin typeface="Arial"/>
                <a:ea typeface="Arial"/>
                <a:cs typeface="Arial"/>
              </a:rPr>
              <a:t>ThoXay</a:t>
            </a:r>
            <a:endParaRPr lang="vi-VN" sz="8400"/>
          </a:p>
        </p:txBody>
      </p:sp>
      <p:sp>
        <p:nvSpPr>
          <p:cNvPr id="4" name="text-1-4"/>
          <p:cNvSpPr txBox="1"/>
          <p:nvPr/>
        </p:nvSpPr>
        <p:spPr>
          <a:xfrm>
            <a:off x="742950" y="3162300"/>
            <a:ext cx="10382250" cy="1143000"/>
          </a:xfrm>
          <a:prstGeom prst="rect">
            <a:avLst/>
          </a:prstGeom>
          <a:noFill/>
          <a:ln>
            <a:noFill/>
          </a:ln>
        </p:spPr>
        <p:txBody>
          <a:bodyPr wrap="square" lIns="0" tIns="0" rIns="0" bIns="0" anchor="t">
            <a:noAutofit/>
          </a:bodyPr>
          <a:lstStyle/>
          <a:p>
            <a:pPr>
              <a:lnSpc>
                <a:spcPct val="112000"/>
              </a:lnSpc>
              <a:spcAft>
                <a:spcPts val="700"/>
              </a:spcAft>
            </a:pPr>
            <a:r>
              <a:rPr lang="vi-VN" sz="3000" b="1">
                <a:solidFill>
                  <a:srgbClr val="FFFFFF"/>
                </a:solidFill>
                <a:latin typeface="Arial"/>
                <a:ea typeface="Arial"/>
                <a:cs typeface="Arial"/>
              </a:rPr>
              <a:t>Kết nối lao động phổ thông</a:t>
            </a:r>
            <a:endParaRPr lang="vi-VN" sz="3000"/>
          </a:p>
          <a:p>
            <a:pPr>
              <a:lnSpc>
                <a:spcPct val="112000"/>
              </a:lnSpc>
              <a:spcAft>
                <a:spcPts val="700"/>
              </a:spcAft>
            </a:pPr>
            <a:r>
              <a:rPr lang="vi-VN" sz="3000" b="1">
                <a:solidFill>
                  <a:srgbClr val="FFFFFF"/>
                </a:solidFill>
                <a:latin typeface="Arial"/>
                <a:ea typeface="Arial"/>
                <a:cs typeface="Arial"/>
              </a:rPr>
              <a:t>và Chủ thầu</a:t>
            </a:r>
            <a:endParaRPr lang="vi-VN" sz="3000"/>
          </a:p>
        </p:txBody>
      </p:sp>
      <p:sp>
        <p:nvSpPr>
          <p:cNvPr id="5" name="text-1-5"/>
          <p:cNvSpPr txBox="1"/>
          <p:nvPr/>
        </p:nvSpPr>
        <p:spPr>
          <a:xfrm>
            <a:off x="762000" y="4953000"/>
            <a:ext cx="10477500" cy="800100"/>
          </a:xfrm>
          <a:prstGeom prst="rect">
            <a:avLst/>
          </a:prstGeom>
          <a:noFill/>
          <a:ln>
            <a:noFill/>
          </a:ln>
        </p:spPr>
        <p:txBody>
          <a:bodyPr wrap="square" lIns="0" tIns="0" rIns="0" bIns="0" anchor="t">
            <a:noAutofit/>
          </a:bodyPr>
          <a:lstStyle/>
          <a:p>
            <a:pPr>
              <a:lnSpc>
                <a:spcPct val="112000"/>
              </a:lnSpc>
              <a:spcAft>
                <a:spcPts val="700"/>
              </a:spcAft>
            </a:pPr>
            <a:r>
              <a:rPr lang="vi-VN" sz="1875" b="0">
                <a:solidFill>
                  <a:srgbClr val="CBD5E1"/>
                </a:solidFill>
                <a:latin typeface="Arial"/>
                <a:ea typeface="Arial"/>
                <a:cs typeface="Arial"/>
              </a:rPr>
              <a:t>Flutter Mobile/Web và Spring Boot</a:t>
            </a:r>
            <a:endParaRPr lang="vi-VN" sz="1875"/>
          </a:p>
          <a:p>
            <a:pPr>
              <a:lnSpc>
                <a:spcPct val="112000"/>
              </a:lnSpc>
              <a:spcAft>
                <a:spcPts val="700"/>
              </a:spcAft>
            </a:pPr>
            <a:r>
              <a:rPr lang="vi-VN" sz="1875" b="0">
                <a:solidFill>
                  <a:srgbClr val="CBD5E1"/>
                </a:solidFill>
                <a:latin typeface="Arial"/>
                <a:ea typeface="Arial"/>
                <a:cs typeface="Arial"/>
              </a:rPr>
              <a:t>30/10/2026</a:t>
            </a:r>
            <a:endParaRPr lang="vi-VN" sz="1875"/>
          </a:p>
        </p:txBody>
      </p:sp>
      <p:sp>
        <p:nvSpPr>
          <p:cNvPr id="6" name="text-1-6"/>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ThoXay</a:t>
            </a:r>
            <a:endParaRPr lang="vi-VN" sz="1050"/>
          </a:p>
        </p:txBody>
      </p:sp>
      <p:sp>
        <p:nvSpPr>
          <p:cNvPr id="7" name="text-1-7"/>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01</a:t>
            </a:r>
            <a:endParaRPr lang="vi-VN"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oXay 02">
    <p:bg>
      <p:bgPr>
        <a:solidFill>
          <a:srgbClr val="FFFFFF"/>
        </a:solidFill>
        <a:effectLst/>
      </p:bgPr>
    </p:bg>
    <p:spTree>
      <p:nvGrpSpPr>
        <p:cNvPr id="1" name=""/>
        <p:cNvGrpSpPr/>
        <p:nvPr/>
      </p:nvGrpSpPr>
      <p:grpSpPr>
        <a:xfrm>
          <a:off x="0" y="0"/>
          <a:ext cx="0" cy="0"/>
          <a:chOff x="0" y="0"/>
          <a:chExt cx="0" cy="0"/>
        </a:xfrm>
      </p:grpSpPr>
      <p:sp>
        <p:nvSpPr>
          <p:cNvPr id="2" name="text-2-2"/>
          <p:cNvSpPr txBox="1"/>
          <p:nvPr/>
        </p:nvSpPr>
        <p:spPr>
          <a:xfrm>
            <a:off x="609600" y="1905000"/>
            <a:ext cx="7143750" cy="476250"/>
          </a:xfrm>
          <a:prstGeom prst="rect">
            <a:avLst/>
          </a:prstGeom>
          <a:noFill/>
          <a:ln>
            <a:noFill/>
          </a:ln>
        </p:spPr>
        <p:txBody>
          <a:bodyPr wrap="square" lIns="0" tIns="0" rIns="0" bIns="0" anchor="t">
            <a:noAutofit/>
          </a:bodyPr>
          <a:lstStyle/>
          <a:p>
            <a:pPr>
              <a:lnSpc>
                <a:spcPct val="112000"/>
              </a:lnSpc>
              <a:spcAft>
                <a:spcPts val="700"/>
              </a:spcAft>
            </a:pPr>
            <a:r>
              <a:rPr lang="vi-VN" sz="2250" b="1">
                <a:solidFill>
                  <a:srgbClr val="EA580C"/>
                </a:solidFill>
                <a:latin typeface="Arial"/>
                <a:ea typeface="Arial"/>
                <a:cs typeface="Arial"/>
              </a:rPr>
              <a:t>Thợ cần so sánh cơ hội quanh mình</a:t>
            </a:r>
            <a:endParaRPr lang="vi-VN" sz="2250"/>
          </a:p>
        </p:txBody>
      </p:sp>
      <p:sp>
        <p:nvSpPr>
          <p:cNvPr id="3" name="text-2-3"/>
          <p:cNvSpPr txBox="1"/>
          <p:nvPr/>
        </p:nvSpPr>
        <p:spPr>
          <a:xfrm>
            <a:off x="609600" y="2495550"/>
            <a:ext cx="6762750" cy="95250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172033"/>
                </a:solidFill>
                <a:latin typeface="Arial"/>
                <a:ea typeface="Arial"/>
                <a:cs typeface="Arial"/>
              </a:rPr>
              <a:t>Địa điểm, mức lương và lịch phải rõ trước khi ứng tuyển.</a:t>
            </a:r>
            <a:endParaRPr lang="vi-VN" sz="2100"/>
          </a:p>
        </p:txBody>
      </p:sp>
      <p:sp>
        <p:nvSpPr>
          <p:cNvPr id="4" name="text-2-4"/>
          <p:cNvSpPr txBox="1"/>
          <p:nvPr/>
        </p:nvSpPr>
        <p:spPr>
          <a:xfrm>
            <a:off x="609600" y="3676650"/>
            <a:ext cx="7143750" cy="476250"/>
          </a:xfrm>
          <a:prstGeom prst="rect">
            <a:avLst/>
          </a:prstGeom>
          <a:noFill/>
          <a:ln>
            <a:noFill/>
          </a:ln>
        </p:spPr>
        <p:txBody>
          <a:bodyPr wrap="square" lIns="0" tIns="0" rIns="0" bIns="0" anchor="t">
            <a:noAutofit/>
          </a:bodyPr>
          <a:lstStyle/>
          <a:p>
            <a:pPr>
              <a:lnSpc>
                <a:spcPct val="112000"/>
              </a:lnSpc>
              <a:spcAft>
                <a:spcPts val="700"/>
              </a:spcAft>
            </a:pPr>
            <a:r>
              <a:rPr lang="vi-VN" sz="2250" b="1">
                <a:solidFill>
                  <a:srgbClr val="059669"/>
                </a:solidFill>
                <a:latin typeface="Arial"/>
                <a:ea typeface="Arial"/>
                <a:cs typeface="Arial"/>
              </a:rPr>
              <a:t>Chủ thầu cần theo dõi hợp tác</a:t>
            </a:r>
            <a:endParaRPr lang="vi-VN" sz="2250"/>
          </a:p>
        </p:txBody>
      </p:sp>
      <p:sp>
        <p:nvSpPr>
          <p:cNvPr id="5" name="text-2-5"/>
          <p:cNvSpPr txBox="1"/>
          <p:nvPr/>
        </p:nvSpPr>
        <p:spPr>
          <a:xfrm>
            <a:off x="609600" y="4267200"/>
            <a:ext cx="6762750" cy="12382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172033"/>
                </a:solidFill>
                <a:latin typeface="Arial"/>
                <a:ea typeface="Arial"/>
                <a:cs typeface="Arial"/>
              </a:rPr>
              <a:t>Ứng viên, ngày công, nghiệm thu và chi trả cùng một lịch sử.</a:t>
            </a:r>
            <a:endParaRPr lang="vi-VN" sz="2100"/>
          </a:p>
        </p:txBody>
      </p:sp>
      <p:pic>
        <p:nvPicPr>
          <p:cNvPr id="6" name="image-6" descr="Ảnh giao diện dữ liệu DEMO hoặc sơ đồ contractor-mobile"/>
          <p:cNvPicPr>
            <a:picLocks noChangeAspect="1"/>
          </p:cNvPicPr>
          <p:nvPr/>
        </p:nvPicPr>
        <p:blipFill>
          <a:blip r:embed="rId3"/>
          <a:srcRect t="6364" b="16364"/>
          <a:stretch>
            <a:fillRect/>
          </a:stretch>
        </p:blipFill>
        <p:spPr>
          <a:xfrm>
            <a:off x="8710332" y="1714500"/>
            <a:ext cx="2010335" cy="4381500"/>
          </a:xfrm>
          <a:prstGeom prst="rect">
            <a:avLst/>
          </a:prstGeom>
        </p:spPr>
      </p:pic>
      <p:sp>
        <p:nvSpPr>
          <p:cNvPr id="7" name="text-2-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Công việc gắn với vị trí và ngày công</a:t>
            </a:r>
            <a:endParaRPr lang="vi-VN" sz="3150"/>
          </a:p>
        </p:txBody>
      </p:sp>
      <p:sp>
        <p:nvSpPr>
          <p:cNvPr id="8" name="text-2-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9" name="text-2-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02</a:t>
            </a:r>
            <a:endParaRPr lang="vi-VN" sz="10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hoXay 03">
    <p:bg>
      <p:bgPr>
        <a:solidFill>
          <a:srgbClr val="FFFFFF"/>
        </a:solidFill>
        <a:effectLst/>
      </p:bgPr>
    </p:bg>
    <p:spTree>
      <p:nvGrpSpPr>
        <p:cNvPr id="1" name=""/>
        <p:cNvGrpSpPr/>
        <p:nvPr/>
      </p:nvGrpSpPr>
      <p:grpSpPr>
        <a:xfrm>
          <a:off x="0" y="0"/>
          <a:ext cx="0" cy="0"/>
          <a:chOff x="0" y="0"/>
          <a:chExt cx="0" cy="0"/>
        </a:xfrm>
      </p:grpSpPr>
      <p:pic>
        <p:nvPicPr>
          <p:cNvPr id="2" name="image-2" descr="Ảnh giao diện dữ liệu DEMO hoặc sơ đồ slide-use-case"/>
          <p:cNvPicPr>
            <a:picLocks noChangeAspect="1"/>
          </p:cNvPicPr>
          <p:nvPr/>
        </p:nvPicPr>
        <p:blipFill>
          <a:blip r:embed="rId3"/>
          <a:stretch>
            <a:fillRect/>
          </a:stretch>
        </p:blipFill>
        <p:spPr>
          <a:xfrm>
            <a:off x="847725" y="1714500"/>
            <a:ext cx="5238750" cy="4191000"/>
          </a:xfrm>
          <a:prstGeom prst="rect">
            <a:avLst/>
          </a:prstGeom>
        </p:spPr>
      </p:pic>
      <p:sp>
        <p:nvSpPr>
          <p:cNvPr id="3" name="text-3-3"/>
          <p:cNvSpPr txBox="1"/>
          <p:nvPr/>
        </p:nvSpPr>
        <p:spPr>
          <a:xfrm>
            <a:off x="6953250" y="1943100"/>
            <a:ext cx="4476750" cy="857250"/>
          </a:xfrm>
          <a:prstGeom prst="rect">
            <a:avLst/>
          </a:prstGeom>
          <a:noFill/>
          <a:ln>
            <a:noFill/>
          </a:ln>
        </p:spPr>
        <p:txBody>
          <a:bodyPr wrap="square" lIns="0" tIns="0" rIns="0" bIns="0" anchor="t">
            <a:noAutofit/>
          </a:bodyPr>
          <a:lstStyle/>
          <a:p>
            <a:pPr>
              <a:lnSpc>
                <a:spcPct val="112000"/>
              </a:lnSpc>
              <a:spcAft>
                <a:spcPts val="700"/>
              </a:spcAft>
            </a:pPr>
            <a:r>
              <a:rPr lang="vi-VN" sz="2400" b="1">
                <a:solidFill>
                  <a:srgbClr val="172033"/>
                </a:solidFill>
                <a:latin typeface="Arial"/>
                <a:ea typeface="Arial"/>
                <a:cs typeface="Arial"/>
              </a:rPr>
              <a:t>Vai trò gắn với quyền sở hữu dữ liệu</a:t>
            </a:r>
            <a:endParaRPr lang="vi-VN" sz="2400"/>
          </a:p>
        </p:txBody>
      </p:sp>
      <p:sp>
        <p:nvSpPr>
          <p:cNvPr id="4" name="text-3-4"/>
          <p:cNvSpPr txBox="1"/>
          <p:nvPr/>
        </p:nvSpPr>
        <p:spPr>
          <a:xfrm>
            <a:off x="6953250" y="3181350"/>
            <a:ext cx="4476750" cy="2095500"/>
          </a:xfrm>
          <a:prstGeom prst="rect">
            <a:avLst/>
          </a:prstGeom>
          <a:noFill/>
          <a:ln>
            <a:noFill/>
          </a:ln>
        </p:spPr>
        <p:txBody>
          <a:bodyPr wrap="square" lIns="0" tIns="0" rIns="0" bIns="0" anchor="t">
            <a:noAutofit/>
          </a:bodyPr>
          <a:lstStyle/>
          <a:p>
            <a:pPr>
              <a:lnSpc>
                <a:spcPct val="112000"/>
              </a:lnSpc>
              <a:spcAft>
                <a:spcPts val="700"/>
              </a:spcAft>
            </a:pPr>
            <a:r>
              <a:rPr lang="vi-VN" sz="2025" b="0">
                <a:solidFill>
                  <a:srgbClr val="172033"/>
                </a:solidFill>
                <a:latin typeface="Arial"/>
                <a:ea typeface="Arial"/>
                <a:cs typeface="Arial"/>
              </a:rPr>
              <a:t>Chỉ Thợ và Chủ thầu đăng ký công khai.</a:t>
            </a:r>
            <a:endParaRPr lang="vi-VN" sz="2025"/>
          </a:p>
          <a:p>
            <a:pPr>
              <a:lnSpc>
                <a:spcPct val="112000"/>
              </a:lnSpc>
              <a:spcAft>
                <a:spcPts val="700"/>
              </a:spcAft>
            </a:pPr>
            <a:r>
              <a:rPr lang="vi-VN" sz="2025" b="0">
                <a:solidFill>
                  <a:srgbClr val="172033"/>
                </a:solidFill>
                <a:latin typeface="Arial"/>
                <a:ea typeface="Arial"/>
                <a:cs typeface="Arial"/>
              </a:rPr>
              <a:t>Admin dùng phiên và CSRF.</a:t>
            </a:r>
            <a:endParaRPr lang="vi-VN" sz="2025"/>
          </a:p>
          <a:p>
            <a:pPr>
              <a:lnSpc>
                <a:spcPct val="112000"/>
              </a:lnSpc>
              <a:spcAft>
                <a:spcPts val="700"/>
              </a:spcAft>
            </a:pPr>
            <a:r>
              <a:rPr lang="vi-VN" sz="2025" b="0">
                <a:solidFill>
                  <a:srgbClr val="172033"/>
                </a:solidFill>
                <a:latin typeface="Arial"/>
                <a:ea typeface="Arial"/>
                <a:cs typeface="Arial"/>
              </a:rPr>
              <a:t>Service kiểm tra quyền ở từng thao tác.</a:t>
            </a:r>
            <a:endParaRPr lang="vi-VN" sz="2025"/>
          </a:p>
        </p:txBody>
      </p:sp>
      <p:sp>
        <p:nvSpPr>
          <p:cNvPr id="5" name="text-3-5"/>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Ba vai trò trong cùng quy trình</a:t>
            </a:r>
            <a:endParaRPr lang="vi-VN" sz="3150"/>
          </a:p>
        </p:txBody>
      </p:sp>
      <p:sp>
        <p:nvSpPr>
          <p:cNvPr id="6" name="text-3-6"/>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7" name="text-3-7"/>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03</a:t>
            </a:r>
            <a:endParaRPr lang="vi-VN"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oXay 04">
    <p:bg>
      <p:bgPr>
        <a:solidFill>
          <a:srgbClr val="0F172A"/>
        </a:solidFill>
        <a:effectLst/>
      </p:bgPr>
    </p:bg>
    <p:spTree>
      <p:nvGrpSpPr>
        <p:cNvPr id="1" name=""/>
        <p:cNvGrpSpPr/>
        <p:nvPr/>
      </p:nvGrpSpPr>
      <p:grpSpPr>
        <a:xfrm>
          <a:off x="0" y="0"/>
          <a:ext cx="0" cy="0"/>
          <a:chOff x="0" y="0"/>
          <a:chExt cx="0" cy="0"/>
        </a:xfrm>
      </p:grpSpPr>
      <p:pic>
        <p:nvPicPr>
          <p:cNvPr id="2" name="image-2" descr="Ảnh giao diện dữ liệu DEMO hoặc sơ đồ slide-architecture"/>
          <p:cNvPicPr>
            <a:picLocks noChangeAspect="1"/>
          </p:cNvPicPr>
          <p:nvPr/>
        </p:nvPicPr>
        <p:blipFill>
          <a:blip r:embed="rId3"/>
          <a:stretch>
            <a:fillRect/>
          </a:stretch>
        </p:blipFill>
        <p:spPr>
          <a:xfrm>
            <a:off x="2407708" y="1695450"/>
            <a:ext cx="7376583" cy="3905250"/>
          </a:xfrm>
          <a:prstGeom prst="rect">
            <a:avLst/>
          </a:prstGeom>
        </p:spPr>
      </p:pic>
      <p:sp>
        <p:nvSpPr>
          <p:cNvPr id="3" name="text-4-3"/>
          <p:cNvSpPr txBox="1"/>
          <p:nvPr/>
        </p:nvSpPr>
        <p:spPr>
          <a:xfrm>
            <a:off x="609600" y="5781675"/>
            <a:ext cx="10972800" cy="457200"/>
          </a:xfrm>
          <a:prstGeom prst="rect">
            <a:avLst/>
          </a:prstGeom>
          <a:noFill/>
          <a:ln>
            <a:noFill/>
          </a:ln>
        </p:spPr>
        <p:txBody>
          <a:bodyPr wrap="square" lIns="0" tIns="0" rIns="0" bIns="0" anchor="t">
            <a:noAutofit/>
          </a:bodyPr>
          <a:lstStyle/>
          <a:p>
            <a:pPr>
              <a:lnSpc>
                <a:spcPct val="112000"/>
              </a:lnSpc>
              <a:spcAft>
                <a:spcPts val="700"/>
              </a:spcAft>
            </a:pPr>
            <a:r>
              <a:rPr lang="vi-VN" sz="1725" b="0">
                <a:solidFill>
                  <a:srgbClr val="CBD5E1"/>
                </a:solidFill>
                <a:latin typeface="Arial"/>
                <a:ea typeface="Arial"/>
                <a:cs typeface="Arial"/>
              </a:rPr>
              <a:t>REST JWT và WebSocket dùng chung Backend. Admin đi cùng Spring Boot.</a:t>
            </a:r>
            <a:endParaRPr lang="vi-VN" sz="1725"/>
          </a:p>
        </p:txBody>
      </p:sp>
      <p:sp>
        <p:nvSpPr>
          <p:cNvPr id="4" name="text-4-4"/>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FFFFFF"/>
                </a:solidFill>
                <a:latin typeface="Arial"/>
                <a:ea typeface="Arial"/>
                <a:cs typeface="Arial"/>
              </a:rPr>
              <a:t>Kiến trúc triển khai Web và APK</a:t>
            </a:r>
            <a:endParaRPr lang="vi-VN" sz="3150"/>
          </a:p>
        </p:txBody>
      </p:sp>
      <p:sp>
        <p:nvSpPr>
          <p:cNvPr id="5" name="text-4-5"/>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ThoXay</a:t>
            </a:r>
            <a:endParaRPr lang="vi-VN" sz="1050"/>
          </a:p>
        </p:txBody>
      </p:sp>
      <p:sp>
        <p:nvSpPr>
          <p:cNvPr id="6" name="text-4-6"/>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04</a:t>
            </a:r>
            <a:endParaRPr lang="vi-VN"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oXay 05">
    <p:bg>
      <p:bgPr>
        <a:solidFill>
          <a:srgbClr val="FFFFFF"/>
        </a:solidFill>
        <a:effectLst/>
      </p:bgPr>
    </p:bg>
    <p:spTree>
      <p:nvGrpSpPr>
        <p:cNvPr id="1" name=""/>
        <p:cNvGrpSpPr/>
        <p:nvPr/>
      </p:nvGrpSpPr>
      <p:grpSpPr>
        <a:xfrm>
          <a:off x="0" y="0"/>
          <a:ext cx="0" cy="0"/>
          <a:chOff x="0" y="0"/>
          <a:chExt cx="0" cy="0"/>
        </a:xfrm>
      </p:grpSpPr>
      <p:sp>
        <p:nvSpPr>
          <p:cNvPr id="2" name="text-5-2"/>
          <p:cNvSpPr txBox="1"/>
          <p:nvPr/>
        </p:nvSpPr>
        <p:spPr>
          <a:xfrm>
            <a:off x="609600" y="1809750"/>
            <a:ext cx="4953000" cy="514350"/>
          </a:xfrm>
          <a:prstGeom prst="rect">
            <a:avLst/>
          </a:prstGeom>
          <a:noFill/>
          <a:ln>
            <a:noFill/>
          </a:ln>
        </p:spPr>
        <p:txBody>
          <a:bodyPr wrap="square" lIns="0" tIns="0" rIns="0" bIns="0" anchor="t">
            <a:noAutofit/>
          </a:bodyPr>
          <a:lstStyle/>
          <a:p>
            <a:pPr>
              <a:lnSpc>
                <a:spcPct val="112000"/>
              </a:lnSpc>
              <a:spcAft>
                <a:spcPts val="700"/>
              </a:spcAft>
            </a:pPr>
            <a:r>
              <a:rPr lang="vi-VN" sz="2400" b="1">
                <a:solidFill>
                  <a:srgbClr val="059669"/>
                </a:solidFill>
                <a:latin typeface="Arial"/>
                <a:ea typeface="Arial"/>
                <a:cs typeface="Arial"/>
              </a:rPr>
              <a:t>Backend và dữ liệu</a:t>
            </a:r>
            <a:endParaRPr lang="vi-VN" sz="2400"/>
          </a:p>
        </p:txBody>
      </p:sp>
      <p:sp>
        <p:nvSpPr>
          <p:cNvPr id="3" name="text-5-3"/>
          <p:cNvSpPr txBox="1"/>
          <p:nvPr/>
        </p:nvSpPr>
        <p:spPr>
          <a:xfrm>
            <a:off x="609600" y="2571750"/>
            <a:ext cx="5191125" cy="2381250"/>
          </a:xfrm>
          <a:prstGeom prst="rect">
            <a:avLst/>
          </a:prstGeom>
          <a:noFill/>
          <a:ln>
            <a:noFill/>
          </a:ln>
        </p:spPr>
        <p:txBody>
          <a:bodyPr wrap="square" lIns="0" tIns="0" rIns="0" bIns="0" anchor="t">
            <a:noAutofit/>
          </a:bodyPr>
          <a:lstStyle/>
          <a:p>
            <a:pPr>
              <a:lnSpc>
                <a:spcPct val="112000"/>
              </a:lnSpc>
              <a:spcAft>
                <a:spcPts val="700"/>
              </a:spcAft>
            </a:pPr>
            <a:r>
              <a:rPr lang="vi-VN" sz="2175" b="0">
                <a:solidFill>
                  <a:srgbClr val="172033"/>
                </a:solidFill>
                <a:latin typeface="Arial"/>
                <a:ea typeface="Arial"/>
                <a:cs typeface="Arial"/>
              </a:rPr>
              <a:t>Java 17</a:t>
            </a:r>
            <a:endParaRPr lang="vi-VN" sz="2175"/>
          </a:p>
          <a:p>
            <a:pPr>
              <a:lnSpc>
                <a:spcPct val="112000"/>
              </a:lnSpc>
              <a:spcAft>
                <a:spcPts val="700"/>
              </a:spcAft>
            </a:pPr>
            <a:r>
              <a:rPr lang="vi-VN" sz="2175" b="0">
                <a:solidFill>
                  <a:srgbClr val="172033"/>
                </a:solidFill>
                <a:latin typeface="Arial"/>
                <a:ea typeface="Arial"/>
                <a:cs typeface="Arial"/>
              </a:rPr>
              <a:t>Spring Boot 3.5.16</a:t>
            </a:r>
            <a:endParaRPr lang="vi-VN" sz="2175"/>
          </a:p>
          <a:p>
            <a:pPr>
              <a:lnSpc>
                <a:spcPct val="112000"/>
              </a:lnSpc>
              <a:spcAft>
                <a:spcPts val="700"/>
              </a:spcAft>
            </a:pPr>
            <a:r>
              <a:rPr lang="vi-VN" sz="2175" b="0">
                <a:solidFill>
                  <a:srgbClr val="172033"/>
                </a:solidFill>
                <a:latin typeface="Arial"/>
                <a:ea typeface="Arial"/>
                <a:cs typeface="Arial"/>
              </a:rPr>
              <a:t>Spring Security và JJWT 0.12.6</a:t>
            </a:r>
            <a:endParaRPr lang="vi-VN" sz="2175"/>
          </a:p>
          <a:p>
            <a:pPr>
              <a:lnSpc>
                <a:spcPct val="112000"/>
              </a:lnSpc>
              <a:spcAft>
                <a:spcPts val="700"/>
              </a:spcAft>
            </a:pPr>
            <a:r>
              <a:rPr lang="vi-VN" sz="2175" b="0">
                <a:solidFill>
                  <a:srgbClr val="172033"/>
                </a:solidFill>
                <a:latin typeface="Arial"/>
                <a:ea typeface="Arial"/>
                <a:cs typeface="Arial"/>
              </a:rPr>
              <a:t>PostgreSQL 17 và Flyway</a:t>
            </a:r>
            <a:endParaRPr lang="vi-VN" sz="2175"/>
          </a:p>
        </p:txBody>
      </p:sp>
      <p:sp>
        <p:nvSpPr>
          <p:cNvPr id="4" name="text-5-4"/>
          <p:cNvSpPr txBox="1"/>
          <p:nvPr/>
        </p:nvSpPr>
        <p:spPr>
          <a:xfrm>
            <a:off x="6572250" y="1809750"/>
            <a:ext cx="5048250" cy="514350"/>
          </a:xfrm>
          <a:prstGeom prst="rect">
            <a:avLst/>
          </a:prstGeom>
          <a:noFill/>
          <a:ln>
            <a:noFill/>
          </a:ln>
        </p:spPr>
        <p:txBody>
          <a:bodyPr wrap="square" lIns="0" tIns="0" rIns="0" bIns="0" anchor="t">
            <a:noAutofit/>
          </a:bodyPr>
          <a:lstStyle/>
          <a:p>
            <a:pPr>
              <a:lnSpc>
                <a:spcPct val="112000"/>
              </a:lnSpc>
              <a:spcAft>
                <a:spcPts val="700"/>
              </a:spcAft>
            </a:pPr>
            <a:r>
              <a:rPr lang="vi-VN" sz="2400" b="1">
                <a:solidFill>
                  <a:srgbClr val="EA580C"/>
                </a:solidFill>
                <a:latin typeface="Arial"/>
                <a:ea typeface="Arial"/>
                <a:cs typeface="Arial"/>
              </a:rPr>
              <a:t>Giao diện và phát hành</a:t>
            </a:r>
            <a:endParaRPr lang="vi-VN" sz="2400"/>
          </a:p>
        </p:txBody>
      </p:sp>
      <p:sp>
        <p:nvSpPr>
          <p:cNvPr id="5" name="text-5-5"/>
          <p:cNvSpPr txBox="1"/>
          <p:nvPr/>
        </p:nvSpPr>
        <p:spPr>
          <a:xfrm>
            <a:off x="6572250" y="2571750"/>
            <a:ext cx="5048250" cy="2381250"/>
          </a:xfrm>
          <a:prstGeom prst="rect">
            <a:avLst/>
          </a:prstGeom>
          <a:noFill/>
          <a:ln>
            <a:noFill/>
          </a:ln>
        </p:spPr>
        <p:txBody>
          <a:bodyPr wrap="square" lIns="0" tIns="0" rIns="0" bIns="0" anchor="t">
            <a:noAutofit/>
          </a:bodyPr>
          <a:lstStyle/>
          <a:p>
            <a:pPr>
              <a:lnSpc>
                <a:spcPct val="112000"/>
              </a:lnSpc>
              <a:spcAft>
                <a:spcPts val="700"/>
              </a:spcAft>
            </a:pPr>
            <a:r>
              <a:rPr lang="vi-VN" sz="2175" b="0">
                <a:solidFill>
                  <a:srgbClr val="172033"/>
                </a:solidFill>
                <a:latin typeface="Arial"/>
                <a:ea typeface="Arial"/>
                <a:cs typeface="Arial"/>
              </a:rPr>
              <a:t>Flutter 3.47.8</a:t>
            </a:r>
            <a:endParaRPr lang="vi-VN" sz="2175"/>
          </a:p>
          <a:p>
            <a:pPr>
              <a:lnSpc>
                <a:spcPct val="112000"/>
              </a:lnSpc>
              <a:spcAft>
                <a:spcPts val="700"/>
              </a:spcAft>
            </a:pPr>
            <a:r>
              <a:rPr lang="vi-VN" sz="2175" b="0">
                <a:solidFill>
                  <a:srgbClr val="172033"/>
                </a:solidFill>
                <a:latin typeface="Arial"/>
                <a:ea typeface="Arial"/>
                <a:cs typeface="Arial"/>
              </a:rPr>
              <a:t>Thymeleaf và Bootstrap 5.3.8</a:t>
            </a:r>
            <a:endParaRPr lang="vi-VN" sz="2175"/>
          </a:p>
          <a:p>
            <a:pPr>
              <a:lnSpc>
                <a:spcPct val="112000"/>
              </a:lnSpc>
              <a:spcAft>
                <a:spcPts val="700"/>
              </a:spcAft>
            </a:pPr>
            <a:r>
              <a:rPr lang="vi-VN" sz="2175" b="0">
                <a:solidFill>
                  <a:srgbClr val="172033"/>
                </a:solidFill>
                <a:latin typeface="Arial"/>
                <a:ea typeface="Arial"/>
                <a:cs typeface="Arial"/>
              </a:rPr>
              <a:t>OpenStreetMap, camera và QR</a:t>
            </a:r>
            <a:endParaRPr lang="vi-VN" sz="2175"/>
          </a:p>
          <a:p>
            <a:pPr>
              <a:lnSpc>
                <a:spcPct val="112000"/>
              </a:lnSpc>
              <a:spcAft>
                <a:spcPts val="700"/>
              </a:spcAft>
            </a:pPr>
            <a:r>
              <a:rPr lang="vi-VN" sz="2175" b="0">
                <a:solidFill>
                  <a:srgbClr val="172033"/>
                </a:solidFill>
                <a:latin typeface="Arial"/>
                <a:ea typeface="Arial"/>
                <a:cs typeface="Arial"/>
              </a:rPr>
              <a:t>Docker và GitHub Actions</a:t>
            </a:r>
            <a:endParaRPr lang="vi-VN" sz="2175"/>
          </a:p>
        </p:txBody>
      </p:sp>
      <p:sp>
        <p:nvSpPr>
          <p:cNvPr id="6" name="text-5-6"/>
          <p:cNvSpPr txBox="1"/>
          <p:nvPr/>
        </p:nvSpPr>
        <p:spPr>
          <a:xfrm>
            <a:off x="609600" y="5572125"/>
            <a:ext cx="10972800" cy="476250"/>
          </a:xfrm>
          <a:prstGeom prst="rect">
            <a:avLst/>
          </a:prstGeom>
          <a:noFill/>
          <a:ln>
            <a:noFill/>
          </a:ln>
        </p:spPr>
        <p:txBody>
          <a:bodyPr wrap="square" lIns="0" tIns="0" rIns="0" bIns="0" anchor="t">
            <a:noAutofit/>
          </a:bodyPr>
          <a:lstStyle/>
          <a:p>
            <a:pPr>
              <a:lnSpc>
                <a:spcPct val="112000"/>
              </a:lnSpc>
              <a:spcAft>
                <a:spcPts val="700"/>
              </a:spcAft>
            </a:pPr>
            <a:r>
              <a:rPr lang="vi-VN" sz="1725" b="0">
                <a:solidFill>
                  <a:srgbClr val="64748B"/>
                </a:solidFill>
                <a:latin typeface="Arial"/>
                <a:ea typeface="Arial"/>
                <a:cs typeface="Arial"/>
              </a:rPr>
              <a:t>Version thư viện được đối chiếu từ cấu hình, lockfile và JAR.</a:t>
            </a:r>
            <a:endParaRPr lang="vi-VN" sz="1725"/>
          </a:p>
        </p:txBody>
      </p:sp>
      <p:sp>
        <p:nvSpPr>
          <p:cNvPr id="7" name="text-5-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Công nghệ được cấu hình trong dự án</a:t>
            </a:r>
            <a:endParaRPr lang="vi-VN" sz="3150"/>
          </a:p>
        </p:txBody>
      </p:sp>
      <p:sp>
        <p:nvSpPr>
          <p:cNvPr id="8" name="text-5-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9" name="text-5-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05</a:t>
            </a:r>
            <a:endParaRPr lang="vi-VN"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oXay 06">
    <p:bg>
      <p:bgPr>
        <a:solidFill>
          <a:srgbClr val="FFFFFF"/>
        </a:solidFill>
        <a:effectLst/>
      </p:bgPr>
    </p:bg>
    <p:spTree>
      <p:nvGrpSpPr>
        <p:cNvPr id="1" name=""/>
        <p:cNvGrpSpPr/>
        <p:nvPr/>
      </p:nvGrpSpPr>
      <p:grpSpPr>
        <a:xfrm>
          <a:off x="0" y="0"/>
          <a:ext cx="0" cy="0"/>
          <a:chOff x="0" y="0"/>
          <a:chExt cx="0" cy="0"/>
        </a:xfrm>
      </p:grpSpPr>
      <p:sp>
        <p:nvSpPr>
          <p:cNvPr id="2" name="text-6-2"/>
          <p:cNvSpPr txBox="1"/>
          <p:nvPr/>
        </p:nvSpPr>
        <p:spPr>
          <a:xfrm>
            <a:off x="609600" y="1657350"/>
            <a:ext cx="10972800" cy="514350"/>
          </a:xfrm>
          <a:prstGeom prst="rect">
            <a:avLst/>
          </a:prstGeom>
          <a:noFill/>
          <a:ln>
            <a:noFill/>
          </a:ln>
        </p:spPr>
        <p:txBody>
          <a:bodyPr wrap="square" lIns="0" tIns="0" rIns="0" bIns="0" anchor="t">
            <a:noAutofit/>
          </a:bodyPr>
          <a:lstStyle/>
          <a:p>
            <a:pPr>
              <a:lnSpc>
                <a:spcPct val="112000"/>
              </a:lnSpc>
              <a:spcAft>
                <a:spcPts val="700"/>
              </a:spcAft>
            </a:pPr>
            <a:r>
              <a:rPr lang="vi-VN" sz="2175" b="1">
                <a:solidFill>
                  <a:srgbClr val="059669"/>
                </a:solidFill>
                <a:latin typeface="Arial"/>
                <a:ea typeface="Arial"/>
                <a:cs typeface="Arial"/>
              </a:rPr>
              <a:t>30 bảng nghiệp vụ     256 cột     90 REST endpoint dưới /api/</a:t>
            </a:r>
            <a:endParaRPr lang="vi-VN" sz="2175"/>
          </a:p>
        </p:txBody>
      </p:sp>
      <p:pic>
        <p:nvPicPr>
          <p:cNvPr id="3" name="image-3" descr="Ảnh giao diện dữ liệu DEMO hoặc sơ đồ slide-erd"/>
          <p:cNvPicPr>
            <a:picLocks noChangeAspect="1"/>
          </p:cNvPicPr>
          <p:nvPr/>
        </p:nvPicPr>
        <p:blipFill>
          <a:blip r:embed="rId3"/>
          <a:stretch>
            <a:fillRect/>
          </a:stretch>
        </p:blipFill>
        <p:spPr>
          <a:xfrm>
            <a:off x="609600" y="2558710"/>
            <a:ext cx="10972800" cy="2978830"/>
          </a:xfrm>
          <a:prstGeom prst="rect">
            <a:avLst/>
          </a:prstGeom>
        </p:spPr>
      </p:pic>
      <p:sp>
        <p:nvSpPr>
          <p:cNvPr id="4" name="text-6-4"/>
          <p:cNvSpPr txBox="1"/>
          <p:nvPr/>
        </p:nvSpPr>
        <p:spPr>
          <a:xfrm>
            <a:off x="609600" y="5848350"/>
            <a:ext cx="10972800" cy="428625"/>
          </a:xfrm>
          <a:prstGeom prst="rect">
            <a:avLst/>
          </a:prstGeom>
          <a:noFill/>
          <a:ln>
            <a:noFill/>
          </a:ln>
        </p:spPr>
        <p:txBody>
          <a:bodyPr wrap="square" lIns="0" tIns="0" rIns="0" bIns="0" anchor="t">
            <a:noAutofit/>
          </a:bodyPr>
          <a:lstStyle/>
          <a:p>
            <a:pPr>
              <a:lnSpc>
                <a:spcPct val="112000"/>
              </a:lnSpc>
              <a:spcAft>
                <a:spcPts val="700"/>
              </a:spcAft>
            </a:pPr>
            <a:r>
              <a:rPr lang="vi-VN" sz="1575" b="0">
                <a:solidFill>
                  <a:srgbClr val="64748B"/>
                </a:solidFill>
                <a:latin typeface="Arial"/>
                <a:ea typeface="Arial"/>
                <a:cs typeface="Arial"/>
              </a:rPr>
              <a:t>Lõi tuyển dụng trong sơ đồ. Từ điển đủ 30 bảng và 111 route HTTP nằm trong báo cáo.</a:t>
            </a:r>
            <a:endParaRPr lang="vi-VN" sz="1575"/>
          </a:p>
        </p:txBody>
      </p:sp>
      <p:sp>
        <p:nvSpPr>
          <p:cNvPr id="5" name="text-6-5"/>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Mô hình dữ liệu giữ các ràng buộc</a:t>
            </a:r>
            <a:endParaRPr lang="vi-VN" sz="3150"/>
          </a:p>
        </p:txBody>
      </p:sp>
      <p:sp>
        <p:nvSpPr>
          <p:cNvPr id="6" name="text-6-6"/>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7" name="text-6-7"/>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06</a:t>
            </a:r>
            <a:endParaRPr lang="vi-VN" sz="10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oXay 07">
    <p:bg>
      <p:bgPr>
        <a:solidFill>
          <a:srgbClr val="FFFFFF"/>
        </a:solidFill>
        <a:effectLst/>
      </p:bgPr>
    </p:bg>
    <p:spTree>
      <p:nvGrpSpPr>
        <p:cNvPr id="1" name=""/>
        <p:cNvGrpSpPr/>
        <p:nvPr/>
      </p:nvGrpSpPr>
      <p:grpSpPr>
        <a:xfrm>
          <a:off x="0" y="0"/>
          <a:ext cx="0" cy="0"/>
          <a:chOff x="0" y="0"/>
          <a:chExt cx="0" cy="0"/>
        </a:xfrm>
      </p:grpSpPr>
      <p:pic>
        <p:nvPicPr>
          <p:cNvPr id="2" name="image-2" descr="Ảnh giao diện dữ liệu DEMO hoặc sơ đồ map"/>
          <p:cNvPicPr>
            <a:picLocks noChangeAspect="1"/>
          </p:cNvPicPr>
          <p:nvPr/>
        </p:nvPicPr>
        <p:blipFill>
          <a:blip r:embed="rId3"/>
          <a:srcRect l="12222" t="27000" r="12222" b="12000"/>
          <a:stretch>
            <a:fillRect/>
          </a:stretch>
        </p:blipFill>
        <p:spPr>
          <a:xfrm>
            <a:off x="2655757" y="1809750"/>
            <a:ext cx="6880485" cy="3857625"/>
          </a:xfrm>
          <a:prstGeom prst="rect">
            <a:avLst/>
          </a:prstGeom>
        </p:spPr>
      </p:pic>
      <p:sp>
        <p:nvSpPr>
          <p:cNvPr id="3" name="text-7-3"/>
          <p:cNvSpPr txBox="1"/>
          <p:nvPr/>
        </p:nvSpPr>
        <p:spPr>
          <a:xfrm>
            <a:off x="609600" y="5857875"/>
            <a:ext cx="10972800" cy="381000"/>
          </a:xfrm>
          <a:prstGeom prst="rect">
            <a:avLst/>
          </a:prstGeom>
          <a:noFill/>
          <a:ln>
            <a:noFill/>
          </a:ln>
        </p:spPr>
        <p:txBody>
          <a:bodyPr wrap="square" lIns="0" tIns="0" rIns="0" bIns="0" anchor="t">
            <a:noAutofit/>
          </a:bodyPr>
          <a:lstStyle/>
          <a:p>
            <a:pPr>
              <a:lnSpc>
                <a:spcPct val="112000"/>
              </a:lnSpc>
              <a:spcAft>
                <a:spcPts val="700"/>
              </a:spcAft>
            </a:pPr>
            <a:r>
              <a:rPr lang="vi-VN" sz="1725" b="0">
                <a:solidFill>
                  <a:srgbClr val="EA580C"/>
                </a:solidFill>
                <a:latin typeface="Arial"/>
                <a:ea typeface="Arial"/>
                <a:cs typeface="Arial"/>
              </a:rPr>
              <a:t>Bán kính Haversine   ·   Ghim có lương   ·   Lưu và chia sẻ   ·   Chỉ đường</a:t>
            </a:r>
            <a:endParaRPr lang="vi-VN" sz="1725"/>
          </a:p>
        </p:txBody>
      </p:sp>
      <p:sp>
        <p:nvSpPr>
          <p:cNvPr id="4" name="text-7-4"/>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Tìm công trình trên bản đồ</a:t>
            </a:r>
            <a:endParaRPr lang="vi-VN" sz="3150"/>
          </a:p>
        </p:txBody>
      </p:sp>
      <p:sp>
        <p:nvSpPr>
          <p:cNvPr id="5" name="text-7-5"/>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6" name="text-7-6"/>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07</a:t>
            </a:r>
            <a:endParaRPr lang="vi-VN" sz="10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hoXay 08">
    <p:bg>
      <p:bgPr>
        <a:solidFill>
          <a:srgbClr val="FFFFFF"/>
        </a:solidFill>
        <a:effectLst/>
      </p:bgPr>
    </p:bg>
    <p:spTree>
      <p:nvGrpSpPr>
        <p:cNvPr id="1" name=""/>
        <p:cNvGrpSpPr/>
        <p:nvPr/>
      </p:nvGrpSpPr>
      <p:grpSpPr>
        <a:xfrm>
          <a:off x="0" y="0"/>
          <a:ext cx="0" cy="0"/>
          <a:chOff x="0" y="0"/>
          <a:chExt cx="0" cy="0"/>
        </a:xfrm>
      </p:grpSpPr>
      <p:sp>
        <p:nvSpPr>
          <p:cNvPr id="2" name="text-8-2"/>
          <p:cNvSpPr txBox="1"/>
          <p:nvPr/>
        </p:nvSpPr>
        <p:spPr>
          <a:xfrm>
            <a:off x="609600" y="1809750"/>
            <a:ext cx="5143500" cy="723900"/>
          </a:xfrm>
          <a:prstGeom prst="rect">
            <a:avLst/>
          </a:prstGeom>
          <a:noFill/>
          <a:ln>
            <a:noFill/>
          </a:ln>
        </p:spPr>
        <p:txBody>
          <a:bodyPr wrap="square" lIns="0" tIns="0" rIns="0" bIns="0" anchor="t">
            <a:noAutofit/>
          </a:bodyPr>
          <a:lstStyle/>
          <a:p>
            <a:pPr>
              <a:lnSpc>
                <a:spcPct val="112000"/>
              </a:lnSpc>
              <a:spcAft>
                <a:spcPts val="700"/>
              </a:spcAft>
            </a:pPr>
            <a:r>
              <a:rPr lang="vi-VN" sz="2325" b="1">
                <a:solidFill>
                  <a:srgbClr val="059669"/>
                </a:solidFill>
                <a:latin typeface="Arial"/>
                <a:ea typeface="Arial"/>
                <a:cs typeface="Arial"/>
              </a:rPr>
              <a:t>Lương được chốt theo phiên bản</a:t>
            </a:r>
            <a:endParaRPr lang="vi-VN" sz="2325"/>
          </a:p>
        </p:txBody>
      </p:sp>
      <p:sp>
        <p:nvSpPr>
          <p:cNvPr id="3" name="text-8-3"/>
          <p:cNvSpPr txBox="1"/>
          <p:nvPr/>
        </p:nvSpPr>
        <p:spPr>
          <a:xfrm>
            <a:off x="609600" y="2714625"/>
            <a:ext cx="4953000" cy="18097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172033"/>
                </a:solidFill>
                <a:latin typeface="Arial"/>
                <a:ea typeface="Arial"/>
                <a:cs typeface="Arial"/>
              </a:rPr>
              <a:t>Đề xuất và giá gốc tách biệt.</a:t>
            </a:r>
            <a:endParaRPr lang="vi-VN" sz="2100"/>
          </a:p>
          <a:p>
            <a:pPr>
              <a:lnSpc>
                <a:spcPct val="112000"/>
              </a:lnSpc>
              <a:spcAft>
                <a:spcPts val="700"/>
              </a:spcAft>
            </a:pPr>
            <a:r>
              <a:rPr lang="vi-VN" sz="2100" b="0">
                <a:solidFill>
                  <a:srgbClr val="172033"/>
                </a:solidFill>
                <a:latin typeface="Arial"/>
                <a:ea typeface="Arial"/>
                <a:cs typeface="Arial"/>
              </a:rPr>
              <a:t>Snapshot cam kết có SHA256.</a:t>
            </a:r>
            <a:endParaRPr lang="vi-VN" sz="2100"/>
          </a:p>
          <a:p>
            <a:pPr>
              <a:lnSpc>
                <a:spcPct val="112000"/>
              </a:lnSpc>
              <a:spcAft>
                <a:spcPts val="700"/>
              </a:spcAft>
            </a:pPr>
            <a:r>
              <a:rPr lang="vi-VN" sz="2100" b="0">
                <a:solidFill>
                  <a:srgbClr val="172033"/>
                </a:solidFill>
                <a:latin typeface="Arial"/>
                <a:ea typeface="Arial"/>
                <a:cs typeface="Arial"/>
              </a:rPr>
              <a:t>Chặn nhận trùng lịch khi duyệt.</a:t>
            </a:r>
            <a:endParaRPr lang="vi-VN" sz="2100"/>
          </a:p>
        </p:txBody>
      </p:sp>
      <p:sp>
        <p:nvSpPr>
          <p:cNvPr id="4" name="text-8-4"/>
          <p:cNvSpPr txBox="1"/>
          <p:nvPr/>
        </p:nvSpPr>
        <p:spPr>
          <a:xfrm>
            <a:off x="609600" y="4857750"/>
            <a:ext cx="4953000" cy="1190625"/>
          </a:xfrm>
          <a:prstGeom prst="rect">
            <a:avLst/>
          </a:prstGeom>
          <a:noFill/>
          <a:ln>
            <a:noFill/>
          </a:ln>
        </p:spPr>
        <p:txBody>
          <a:bodyPr wrap="square" lIns="0" tIns="0" rIns="0" bIns="0" anchor="t">
            <a:noAutofit/>
          </a:bodyPr>
          <a:lstStyle/>
          <a:p>
            <a:pPr>
              <a:lnSpc>
                <a:spcPct val="112000"/>
              </a:lnSpc>
              <a:spcAft>
                <a:spcPts val="700"/>
              </a:spcAft>
            </a:pPr>
            <a:r>
              <a:rPr lang="vi-VN" sz="1950" b="0">
                <a:solidFill>
                  <a:srgbClr val="172033"/>
                </a:solidFill>
                <a:latin typeface="Arial"/>
                <a:ea typeface="Arial"/>
                <a:cs typeface="Arial"/>
              </a:rPr>
              <a:t>Tổ đội gồm các tài khoản đã xác nhận. Mỗi người vẫn có ca và đánh giá riêng.</a:t>
            </a:r>
            <a:endParaRPr lang="vi-VN" sz="1950"/>
          </a:p>
        </p:txBody>
      </p:sp>
      <p:pic>
        <p:nvPicPr>
          <p:cNvPr id="5" name="image-5" descr="Ảnh giao diện dữ liệu DEMO hoặc sơ đồ crew"/>
          <p:cNvPicPr>
            <a:picLocks noChangeAspect="1"/>
          </p:cNvPicPr>
          <p:nvPr/>
        </p:nvPicPr>
        <p:blipFill>
          <a:blip r:embed="rId3"/>
          <a:srcRect l="21944" t="9000" r="21944" b="23000"/>
          <a:stretch>
            <a:fillRect/>
          </a:stretch>
        </p:blipFill>
        <p:spPr>
          <a:xfrm>
            <a:off x="6309920" y="1790700"/>
            <a:ext cx="5115709" cy="4305300"/>
          </a:xfrm>
          <a:prstGeom prst="rect">
            <a:avLst/>
          </a:prstGeom>
        </p:spPr>
      </p:pic>
      <p:sp>
        <p:nvSpPr>
          <p:cNvPr id="6" name="text-8-6"/>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Chốt hợp tác theo lịch và cam kết</a:t>
            </a:r>
            <a:endParaRPr lang="vi-VN" sz="3150"/>
          </a:p>
        </p:txBody>
      </p:sp>
      <p:sp>
        <p:nvSpPr>
          <p:cNvPr id="7" name="text-8-7"/>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8" name="text-8-8"/>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08</a:t>
            </a:r>
            <a:endParaRPr lang="vi-VN" sz="10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hoXay 09">
    <p:bg>
      <p:bgPr>
        <a:solidFill>
          <a:srgbClr val="FFFFFF"/>
        </a:solidFill>
        <a:effectLst/>
      </p:bgPr>
    </p:bg>
    <p:spTree>
      <p:nvGrpSpPr>
        <p:cNvPr id="1" name=""/>
        <p:cNvGrpSpPr/>
        <p:nvPr/>
      </p:nvGrpSpPr>
      <p:grpSpPr>
        <a:xfrm>
          <a:off x="0" y="0"/>
          <a:ext cx="0" cy="0"/>
          <a:chOff x="0" y="0"/>
          <a:chExt cx="0" cy="0"/>
        </a:xfrm>
      </p:grpSpPr>
      <p:sp>
        <p:nvSpPr>
          <p:cNvPr id="2" name="text-9-2"/>
          <p:cNvSpPr txBox="1"/>
          <p:nvPr/>
        </p:nvSpPr>
        <p:spPr>
          <a:xfrm>
            <a:off x="609600" y="1952625"/>
            <a:ext cx="3524250" cy="952500"/>
          </a:xfrm>
          <a:prstGeom prst="rect">
            <a:avLst/>
          </a:prstGeom>
          <a:noFill/>
          <a:ln>
            <a:noFill/>
          </a:ln>
        </p:spPr>
        <p:txBody>
          <a:bodyPr wrap="square" lIns="0" tIns="0" rIns="0" bIns="0" anchor="t">
            <a:noAutofit/>
          </a:bodyPr>
          <a:lstStyle/>
          <a:p>
            <a:pPr>
              <a:lnSpc>
                <a:spcPct val="112000"/>
              </a:lnSpc>
              <a:spcAft>
                <a:spcPts val="700"/>
              </a:spcAft>
            </a:pPr>
            <a:r>
              <a:rPr lang="vi-VN" sz="5700" b="1">
                <a:solidFill>
                  <a:srgbClr val="EA580C"/>
                </a:solidFill>
                <a:latin typeface="Arial"/>
                <a:ea typeface="Arial"/>
                <a:cs typeface="Arial"/>
              </a:rPr>
              <a:t>200 m</a:t>
            </a:r>
            <a:endParaRPr lang="vi-VN" sz="5700"/>
          </a:p>
        </p:txBody>
      </p:sp>
      <p:sp>
        <p:nvSpPr>
          <p:cNvPr id="3" name="text-9-3"/>
          <p:cNvSpPr txBox="1"/>
          <p:nvPr/>
        </p:nvSpPr>
        <p:spPr>
          <a:xfrm>
            <a:off x="609600" y="3000375"/>
            <a:ext cx="4000500" cy="552450"/>
          </a:xfrm>
          <a:prstGeom prst="rect">
            <a:avLst/>
          </a:prstGeom>
          <a:noFill/>
          <a:ln>
            <a:noFill/>
          </a:ln>
        </p:spPr>
        <p:txBody>
          <a:bodyPr wrap="square" lIns="0" tIns="0" rIns="0" bIns="0" anchor="t">
            <a:noAutofit/>
          </a:bodyPr>
          <a:lstStyle/>
          <a:p>
            <a:pPr>
              <a:lnSpc>
                <a:spcPct val="112000"/>
              </a:lnSpc>
              <a:spcAft>
                <a:spcPts val="700"/>
              </a:spcAft>
            </a:pPr>
            <a:r>
              <a:rPr lang="vi-VN" sz="2025" b="0">
                <a:solidFill>
                  <a:srgbClr val="172033"/>
                </a:solidFill>
                <a:latin typeface="Arial"/>
                <a:ea typeface="Arial"/>
                <a:cs typeface="Arial"/>
              </a:rPr>
              <a:t>Bán kính chấm công GPS</a:t>
            </a:r>
            <a:endParaRPr lang="vi-VN" sz="2025"/>
          </a:p>
        </p:txBody>
      </p:sp>
      <p:sp>
        <p:nvSpPr>
          <p:cNvPr id="4" name="text-9-4"/>
          <p:cNvSpPr txBox="1"/>
          <p:nvPr/>
        </p:nvSpPr>
        <p:spPr>
          <a:xfrm>
            <a:off x="609600" y="3886200"/>
            <a:ext cx="3524250" cy="857250"/>
          </a:xfrm>
          <a:prstGeom prst="rect">
            <a:avLst/>
          </a:prstGeom>
          <a:noFill/>
          <a:ln>
            <a:noFill/>
          </a:ln>
        </p:spPr>
        <p:txBody>
          <a:bodyPr wrap="square" lIns="0" tIns="0" rIns="0" bIns="0" anchor="t">
            <a:noAutofit/>
          </a:bodyPr>
          <a:lstStyle/>
          <a:p>
            <a:pPr>
              <a:lnSpc>
                <a:spcPct val="112000"/>
              </a:lnSpc>
              <a:spcAft>
                <a:spcPts val="700"/>
              </a:spcAft>
            </a:pPr>
            <a:r>
              <a:rPr lang="vi-VN" sz="4800" b="1">
                <a:solidFill>
                  <a:srgbClr val="EA580C"/>
                </a:solidFill>
                <a:latin typeface="Arial"/>
                <a:ea typeface="Arial"/>
                <a:cs typeface="Arial"/>
              </a:rPr>
              <a:t>5 phút</a:t>
            </a:r>
            <a:endParaRPr lang="vi-VN" sz="4800"/>
          </a:p>
        </p:txBody>
      </p:sp>
      <p:sp>
        <p:nvSpPr>
          <p:cNvPr id="5" name="text-9-5"/>
          <p:cNvSpPr txBox="1"/>
          <p:nvPr/>
        </p:nvSpPr>
        <p:spPr>
          <a:xfrm>
            <a:off x="609600" y="4781550"/>
            <a:ext cx="4095750" cy="533400"/>
          </a:xfrm>
          <a:prstGeom prst="rect">
            <a:avLst/>
          </a:prstGeom>
          <a:noFill/>
          <a:ln>
            <a:noFill/>
          </a:ln>
        </p:spPr>
        <p:txBody>
          <a:bodyPr wrap="square" lIns="0" tIns="0" rIns="0" bIns="0" anchor="t">
            <a:noAutofit/>
          </a:bodyPr>
          <a:lstStyle/>
          <a:p>
            <a:pPr>
              <a:lnSpc>
                <a:spcPct val="112000"/>
              </a:lnSpc>
              <a:spcAft>
                <a:spcPts val="700"/>
              </a:spcAft>
            </a:pPr>
            <a:r>
              <a:rPr lang="vi-VN" sz="2025" b="0">
                <a:solidFill>
                  <a:srgbClr val="172033"/>
                </a:solidFill>
                <a:latin typeface="Arial"/>
                <a:ea typeface="Arial"/>
                <a:cs typeface="Arial"/>
              </a:rPr>
              <a:t>Thời hạn mã QR ca làm</a:t>
            </a:r>
            <a:endParaRPr lang="vi-VN" sz="2025"/>
          </a:p>
        </p:txBody>
      </p:sp>
      <p:pic>
        <p:nvPicPr>
          <p:cNvPr id="6" name="image-6" descr="Ảnh giao diện dữ liệu DEMO hoặc sơ đồ attendance"/>
          <p:cNvPicPr>
            <a:picLocks noChangeAspect="1"/>
          </p:cNvPicPr>
          <p:nvPr/>
        </p:nvPicPr>
        <p:blipFill>
          <a:blip r:embed="rId3"/>
          <a:srcRect l="21944" t="9000" r="21944" b="13000"/>
          <a:stretch>
            <a:fillRect/>
          </a:stretch>
        </p:blipFill>
        <p:spPr>
          <a:xfrm>
            <a:off x="6008175" y="1714500"/>
            <a:ext cx="4519051" cy="4362450"/>
          </a:xfrm>
          <a:prstGeom prst="rect">
            <a:avLst/>
          </a:prstGeom>
        </p:spPr>
      </p:pic>
      <p:sp>
        <p:nvSpPr>
          <p:cNvPr id="7" name="text-9-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Ca làm có bằng chứng nghiệm thu</a:t>
            </a:r>
            <a:endParaRPr lang="vi-VN" sz="3150"/>
          </a:p>
        </p:txBody>
      </p:sp>
      <p:sp>
        <p:nvSpPr>
          <p:cNvPr id="8" name="text-9-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9" name="text-9-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09</a:t>
            </a:r>
            <a:endParaRPr lang="vi-VN" sz="10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oXay 10">
    <p:bg>
      <p:bgPr>
        <a:solidFill>
          <a:srgbClr val="0F172A"/>
        </a:solidFill>
        <a:effectLst/>
      </p:bgPr>
    </p:bg>
    <p:spTree>
      <p:nvGrpSpPr>
        <p:cNvPr id="1" name=""/>
        <p:cNvGrpSpPr/>
        <p:nvPr/>
      </p:nvGrpSpPr>
      <p:grpSpPr>
        <a:xfrm>
          <a:off x="0" y="0"/>
          <a:ext cx="0" cy="0"/>
          <a:chOff x="0" y="0"/>
          <a:chExt cx="0" cy="0"/>
        </a:xfrm>
      </p:grpSpPr>
      <p:sp>
        <p:nvSpPr>
          <p:cNvPr id="2" name="text-10-2"/>
          <p:cNvSpPr txBox="1"/>
          <p:nvPr/>
        </p:nvSpPr>
        <p:spPr>
          <a:xfrm>
            <a:off x="609600" y="1533525"/>
            <a:ext cx="10972800" cy="590550"/>
          </a:xfrm>
          <a:prstGeom prst="rect">
            <a:avLst/>
          </a:prstGeom>
          <a:noFill/>
          <a:ln>
            <a:noFill/>
          </a:ln>
        </p:spPr>
        <p:txBody>
          <a:bodyPr wrap="square" lIns="0" tIns="0" rIns="0" bIns="0" anchor="t">
            <a:noAutofit/>
          </a:bodyPr>
          <a:lstStyle/>
          <a:p>
            <a:pPr>
              <a:lnSpc>
                <a:spcPct val="112000"/>
              </a:lnSpc>
              <a:spcAft>
                <a:spcPts val="700"/>
              </a:spcAft>
            </a:pPr>
            <a:r>
              <a:rPr lang="vi-VN" sz="1875" b="0">
                <a:solidFill>
                  <a:srgbClr val="CBD5E1"/>
                </a:solidFill>
                <a:latin typeface="Arial"/>
                <a:ea typeface="Arial"/>
                <a:cs typeface="Arial"/>
              </a:rPr>
              <a:t>Main, ký quỹ và tiền giữ chỗ rút tách biệt. Ngưỡng cảnh báo ký quỹ 200.000đ.</a:t>
            </a:r>
            <a:endParaRPr lang="vi-VN" sz="1875"/>
          </a:p>
        </p:txBody>
      </p:sp>
      <p:pic>
        <p:nvPicPr>
          <p:cNvPr id="3" name="image-3" descr="Ảnh giao diện dữ liệu DEMO hoặc sơ đồ wallet-mobile"/>
          <p:cNvPicPr>
            <a:picLocks noChangeAspect="1"/>
          </p:cNvPicPr>
          <p:nvPr/>
        </p:nvPicPr>
        <p:blipFill>
          <a:blip r:embed="rId3"/>
          <a:srcRect t="18636" b="25000"/>
          <a:stretch>
            <a:fillRect/>
          </a:stretch>
        </p:blipFill>
        <p:spPr>
          <a:xfrm>
            <a:off x="757084" y="2305050"/>
            <a:ext cx="2276782" cy="3619500"/>
          </a:xfrm>
          <a:prstGeom prst="rect">
            <a:avLst/>
          </a:prstGeom>
        </p:spPr>
      </p:pic>
      <p:sp>
        <p:nvSpPr>
          <p:cNvPr id="4" name="text-10-4"/>
          <p:cNvSpPr txBox="1"/>
          <p:nvPr/>
        </p:nvSpPr>
        <p:spPr>
          <a:xfrm>
            <a:off x="3524250" y="2266950"/>
            <a:ext cx="8058150" cy="419100"/>
          </a:xfrm>
          <a:prstGeom prst="rect">
            <a:avLst/>
          </a:prstGeom>
          <a:noFill/>
          <a:ln>
            <a:noFill/>
          </a:ln>
        </p:spPr>
        <p:txBody>
          <a:bodyPr wrap="square" lIns="0" tIns="0" rIns="0" bIns="0" anchor="t">
            <a:noAutofit/>
          </a:bodyPr>
          <a:lstStyle/>
          <a:p>
            <a:pPr>
              <a:lnSpc>
                <a:spcPct val="112000"/>
              </a:lnSpc>
              <a:spcAft>
                <a:spcPts val="700"/>
              </a:spcAft>
            </a:pPr>
            <a:r>
              <a:rPr lang="vi-VN" sz="1800" b="0">
                <a:solidFill>
                  <a:srgbClr val="CBD5E1"/>
                </a:solidFill>
                <a:latin typeface="Arial"/>
                <a:ea typeface="Arial"/>
                <a:cs typeface="Arial"/>
              </a:rPr>
              <a:t>Tiền công, tip và thưởng đã thanh toán</a:t>
            </a:r>
            <a:endParaRPr lang="vi-VN" sz="1800"/>
          </a:p>
        </p:txBody>
      </p:sp>
      <p:pic>
        <p:nvPicPr>
          <p:cNvPr id="5" name="image-5" descr="Ảnh giao diện dữ liệu DEMO hoặc sơ đồ earnings"/>
          <p:cNvPicPr>
            <a:picLocks noChangeAspect="1"/>
          </p:cNvPicPr>
          <p:nvPr/>
        </p:nvPicPr>
        <p:blipFill>
          <a:blip r:embed="rId4"/>
          <a:srcRect l="21944" t="37600" r="21944" b="31200"/>
          <a:stretch>
            <a:fillRect/>
          </a:stretch>
        </p:blipFill>
        <p:spPr>
          <a:xfrm>
            <a:off x="3524250" y="2763806"/>
            <a:ext cx="8058150" cy="3111563"/>
          </a:xfrm>
          <a:prstGeom prst="rect">
            <a:avLst/>
          </a:prstGeom>
        </p:spPr>
      </p:pic>
      <p:sp>
        <p:nvSpPr>
          <p:cNvPr id="6" name="text-10-6"/>
          <p:cNvSpPr txBox="1"/>
          <p:nvPr/>
        </p:nvSpPr>
        <p:spPr>
          <a:xfrm>
            <a:off x="609600" y="6067425"/>
            <a:ext cx="10972800" cy="304800"/>
          </a:xfrm>
          <a:prstGeom prst="rect">
            <a:avLst/>
          </a:prstGeom>
          <a:noFill/>
          <a:ln>
            <a:noFill/>
          </a:ln>
        </p:spPr>
        <p:txBody>
          <a:bodyPr wrap="square" lIns="0" tIns="0" rIns="0" bIns="0" anchor="t">
            <a:noAutofit/>
          </a:bodyPr>
          <a:lstStyle/>
          <a:p>
            <a:pPr>
              <a:lnSpc>
                <a:spcPct val="112000"/>
              </a:lnSpc>
              <a:spcAft>
                <a:spcPts val="700"/>
              </a:spcAft>
            </a:pPr>
            <a:r>
              <a:rPr lang="vi-VN" sz="1575" b="0">
                <a:solidFill>
                  <a:srgbClr val="FDE68A"/>
                </a:solidFill>
                <a:latin typeface="Arial"/>
                <a:ea typeface="Arial"/>
                <a:cs typeface="Arial"/>
              </a:rPr>
              <a:t>VietQR mẫu không nhận tiền thật. Nạp/rút vẫn chờ Admin đối soát.</a:t>
            </a:r>
            <a:endParaRPr lang="vi-VN" sz="1575"/>
          </a:p>
        </p:txBody>
      </p:sp>
      <p:sp>
        <p:nvSpPr>
          <p:cNvPr id="7" name="text-10-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FFFFFF"/>
                </a:solidFill>
                <a:latin typeface="Arial"/>
                <a:ea typeface="Arial"/>
                <a:cs typeface="Arial"/>
              </a:rPr>
              <a:t>Ví và thu nhập có sổ đối soát</a:t>
            </a:r>
            <a:endParaRPr lang="vi-VN" sz="3150"/>
          </a:p>
        </p:txBody>
      </p:sp>
      <p:sp>
        <p:nvSpPr>
          <p:cNvPr id="8" name="text-10-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ThoXay</a:t>
            </a:r>
            <a:endParaRPr lang="vi-VN" sz="1050"/>
          </a:p>
        </p:txBody>
      </p:sp>
      <p:sp>
        <p:nvSpPr>
          <p:cNvPr id="9" name="text-10-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10</a:t>
            </a:r>
            <a:endParaRPr lang="vi-VN"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oXay 11">
    <p:bg>
      <p:bgPr>
        <a:solidFill>
          <a:srgbClr val="FFFFFF"/>
        </a:solidFill>
        <a:effectLst/>
      </p:bgPr>
    </p:bg>
    <p:spTree>
      <p:nvGrpSpPr>
        <p:cNvPr id="1" name=""/>
        <p:cNvGrpSpPr/>
        <p:nvPr/>
      </p:nvGrpSpPr>
      <p:grpSpPr>
        <a:xfrm>
          <a:off x="0" y="0"/>
          <a:ext cx="0" cy="0"/>
          <a:chOff x="0" y="0"/>
          <a:chExt cx="0" cy="0"/>
        </a:xfrm>
      </p:grpSpPr>
      <p:sp>
        <p:nvSpPr>
          <p:cNvPr id="2" name="text-11-2"/>
          <p:cNvSpPr txBox="1"/>
          <p:nvPr/>
        </p:nvSpPr>
        <p:spPr>
          <a:xfrm>
            <a:off x="609600" y="1885950"/>
            <a:ext cx="3429000" cy="781050"/>
          </a:xfrm>
          <a:prstGeom prst="rect">
            <a:avLst/>
          </a:prstGeom>
          <a:noFill/>
          <a:ln>
            <a:noFill/>
          </a:ln>
        </p:spPr>
        <p:txBody>
          <a:bodyPr wrap="square" lIns="0" tIns="0" rIns="0" bIns="0" anchor="t">
            <a:noAutofit/>
          </a:bodyPr>
          <a:lstStyle/>
          <a:p>
            <a:pPr>
              <a:lnSpc>
                <a:spcPct val="112000"/>
              </a:lnSpc>
              <a:spcAft>
                <a:spcPts val="700"/>
              </a:spcAft>
            </a:pPr>
            <a:r>
              <a:rPr lang="vi-VN" sz="4350" b="1">
                <a:solidFill>
                  <a:srgbClr val="EA580C"/>
                </a:solidFill>
                <a:latin typeface="Arial"/>
                <a:ea typeface="Arial"/>
                <a:cs typeface="Arial"/>
              </a:rPr>
              <a:t>1–5 sao</a:t>
            </a:r>
            <a:endParaRPr lang="vi-VN" sz="4350"/>
          </a:p>
        </p:txBody>
      </p:sp>
      <p:sp>
        <p:nvSpPr>
          <p:cNvPr id="3" name="text-11-3"/>
          <p:cNvSpPr txBox="1"/>
          <p:nvPr/>
        </p:nvSpPr>
        <p:spPr>
          <a:xfrm>
            <a:off x="609600" y="2781300"/>
            <a:ext cx="3333750" cy="904875"/>
          </a:xfrm>
          <a:prstGeom prst="rect">
            <a:avLst/>
          </a:prstGeom>
          <a:noFill/>
          <a:ln>
            <a:noFill/>
          </a:ln>
        </p:spPr>
        <p:txBody>
          <a:bodyPr wrap="square" lIns="0" tIns="0" rIns="0" bIns="0" anchor="t">
            <a:noAutofit/>
          </a:bodyPr>
          <a:lstStyle/>
          <a:p>
            <a:pPr>
              <a:lnSpc>
                <a:spcPct val="112000"/>
              </a:lnSpc>
              <a:spcAft>
                <a:spcPts val="700"/>
              </a:spcAft>
            </a:pPr>
            <a:r>
              <a:rPr lang="vi-VN" sz="1950" b="0">
                <a:solidFill>
                  <a:srgbClr val="172033"/>
                </a:solidFill>
                <a:latin typeface="Arial"/>
                <a:ea typeface="Arial"/>
                <a:cs typeface="Arial"/>
              </a:rPr>
              <a:t>Điểm từ công trình hoàn thành</a:t>
            </a:r>
            <a:endParaRPr lang="vi-VN" sz="1950"/>
          </a:p>
        </p:txBody>
      </p:sp>
      <p:sp>
        <p:nvSpPr>
          <p:cNvPr id="4" name="text-11-4"/>
          <p:cNvSpPr txBox="1"/>
          <p:nvPr/>
        </p:nvSpPr>
        <p:spPr>
          <a:xfrm>
            <a:off x="609600" y="3943350"/>
            <a:ext cx="3333750" cy="762000"/>
          </a:xfrm>
          <a:prstGeom prst="rect">
            <a:avLst/>
          </a:prstGeom>
          <a:noFill/>
          <a:ln>
            <a:noFill/>
          </a:ln>
        </p:spPr>
        <p:txBody>
          <a:bodyPr wrap="square" lIns="0" tIns="0" rIns="0" bIns="0" anchor="t">
            <a:noAutofit/>
          </a:bodyPr>
          <a:lstStyle/>
          <a:p>
            <a:pPr>
              <a:lnSpc>
                <a:spcPct val="112000"/>
              </a:lnSpc>
              <a:spcAft>
                <a:spcPts val="700"/>
              </a:spcAft>
            </a:pPr>
            <a:r>
              <a:rPr lang="vi-VN" sz="3600" b="1">
                <a:solidFill>
                  <a:srgbClr val="EA580C"/>
                </a:solidFill>
                <a:latin typeface="Arial"/>
                <a:ea typeface="Arial"/>
                <a:cs typeface="Arial"/>
              </a:rPr>
              <a:t>−15 điểm</a:t>
            </a:r>
            <a:endParaRPr lang="vi-VN" sz="3600"/>
          </a:p>
        </p:txBody>
      </p:sp>
      <p:sp>
        <p:nvSpPr>
          <p:cNvPr id="5" name="text-11-5"/>
          <p:cNvSpPr txBox="1"/>
          <p:nvPr/>
        </p:nvSpPr>
        <p:spPr>
          <a:xfrm>
            <a:off x="609600" y="4810125"/>
            <a:ext cx="3333750" cy="952500"/>
          </a:xfrm>
          <a:prstGeom prst="rect">
            <a:avLst/>
          </a:prstGeom>
          <a:noFill/>
          <a:ln>
            <a:noFill/>
          </a:ln>
        </p:spPr>
        <p:txBody>
          <a:bodyPr wrap="square" lIns="0" tIns="0" rIns="0" bIns="0" anchor="t">
            <a:noAutofit/>
          </a:bodyPr>
          <a:lstStyle/>
          <a:p>
            <a:pPr>
              <a:lnSpc>
                <a:spcPct val="112000"/>
              </a:lnSpc>
              <a:spcAft>
                <a:spcPts val="700"/>
              </a:spcAft>
            </a:pPr>
            <a:r>
              <a:rPr lang="vi-VN" sz="1950" b="0">
                <a:solidFill>
                  <a:srgbClr val="172033"/>
                </a:solidFill>
                <a:latin typeface="Arial"/>
                <a:ea typeface="Arial"/>
                <a:cs typeface="Arial"/>
              </a:rPr>
              <a:t>Hủy việc đã nhận và tính lại bậc</a:t>
            </a:r>
            <a:endParaRPr lang="vi-VN" sz="1950"/>
          </a:p>
        </p:txBody>
      </p:sp>
      <p:pic>
        <p:nvPicPr>
          <p:cNvPr id="6" name="image-6" descr="Ảnh giao diện dữ liệu DEMO hoặc sơ đồ leaderboard"/>
          <p:cNvPicPr>
            <a:picLocks noChangeAspect="1"/>
          </p:cNvPicPr>
          <p:nvPr/>
        </p:nvPicPr>
        <p:blipFill>
          <a:blip r:embed="rId3"/>
          <a:srcRect l="21944" t="35000" r="21944" b="30000"/>
          <a:stretch>
            <a:fillRect/>
          </a:stretch>
        </p:blipFill>
        <p:spPr>
          <a:xfrm>
            <a:off x="4191000" y="2304390"/>
            <a:ext cx="7391400" cy="3201720"/>
          </a:xfrm>
          <a:prstGeom prst="rect">
            <a:avLst/>
          </a:prstGeom>
        </p:spPr>
      </p:pic>
      <p:sp>
        <p:nvSpPr>
          <p:cNvPr id="7" name="text-11-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Sao và uy tín quyết định bậc thợ</a:t>
            </a:r>
            <a:endParaRPr lang="vi-VN" sz="3150"/>
          </a:p>
        </p:txBody>
      </p:sp>
      <p:sp>
        <p:nvSpPr>
          <p:cNvPr id="8" name="text-11-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9" name="text-11-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11</a:t>
            </a:r>
            <a:endParaRPr lang="vi-VN"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hoXay 12">
    <p:bg>
      <p:bgPr>
        <a:solidFill>
          <a:srgbClr val="FFFFFF"/>
        </a:solidFill>
        <a:effectLst/>
      </p:bgPr>
    </p:bg>
    <p:spTree>
      <p:nvGrpSpPr>
        <p:cNvPr id="1" name=""/>
        <p:cNvGrpSpPr/>
        <p:nvPr/>
      </p:nvGrpSpPr>
      <p:grpSpPr>
        <a:xfrm>
          <a:off x="0" y="0"/>
          <a:ext cx="0" cy="0"/>
          <a:chOff x="0" y="0"/>
          <a:chExt cx="0" cy="0"/>
        </a:xfrm>
      </p:grpSpPr>
      <p:sp>
        <p:nvSpPr>
          <p:cNvPr id="2" name="text-12-2"/>
          <p:cNvSpPr txBox="1"/>
          <p:nvPr/>
        </p:nvSpPr>
        <p:spPr>
          <a:xfrm>
            <a:off x="609600" y="1847850"/>
            <a:ext cx="4953000" cy="762000"/>
          </a:xfrm>
          <a:prstGeom prst="rect">
            <a:avLst/>
          </a:prstGeom>
          <a:noFill/>
          <a:ln>
            <a:noFill/>
          </a:ln>
        </p:spPr>
        <p:txBody>
          <a:bodyPr wrap="square" lIns="0" tIns="0" rIns="0" bIns="0" anchor="t">
            <a:noAutofit/>
          </a:bodyPr>
          <a:lstStyle/>
          <a:p>
            <a:pPr>
              <a:lnSpc>
                <a:spcPct val="112000"/>
              </a:lnSpc>
              <a:spcAft>
                <a:spcPts val="700"/>
              </a:spcAft>
            </a:pPr>
            <a:r>
              <a:rPr lang="vi-VN" sz="2325" b="1">
                <a:solidFill>
                  <a:srgbClr val="059669"/>
                </a:solidFill>
                <a:latin typeface="Arial"/>
                <a:ea typeface="Arial"/>
                <a:cs typeface="Arial"/>
              </a:rPr>
              <a:t>Chat chỉ mở sau ACCEPTED</a:t>
            </a:r>
            <a:endParaRPr lang="vi-VN" sz="2325"/>
          </a:p>
        </p:txBody>
      </p:sp>
      <p:sp>
        <p:nvSpPr>
          <p:cNvPr id="3" name="text-12-3"/>
          <p:cNvSpPr txBox="1"/>
          <p:nvPr/>
        </p:nvSpPr>
        <p:spPr>
          <a:xfrm>
            <a:off x="609600" y="2857500"/>
            <a:ext cx="4857750" cy="171450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172033"/>
                </a:solidFill>
                <a:latin typeface="Arial"/>
                <a:ea typeface="Arial"/>
                <a:cs typeface="Arial"/>
              </a:rPr>
              <a:t>Chữ, ảnh và vị trí GPS.</a:t>
            </a:r>
            <a:endParaRPr lang="vi-VN" sz="2100"/>
          </a:p>
          <a:p>
            <a:pPr>
              <a:lnSpc>
                <a:spcPct val="112000"/>
              </a:lnSpc>
              <a:spcAft>
                <a:spcPts val="700"/>
              </a:spcAft>
            </a:pPr>
            <a:r>
              <a:rPr lang="vi-VN" sz="2100" b="0">
                <a:solidFill>
                  <a:srgbClr val="172033"/>
                </a:solidFill>
                <a:latin typeface="Arial"/>
                <a:ea typeface="Arial"/>
                <a:cs typeface="Arial"/>
              </a:rPr>
              <a:t>Lưu tin trước, phát sau commit.</a:t>
            </a:r>
            <a:endParaRPr lang="vi-VN" sz="2100"/>
          </a:p>
          <a:p>
            <a:pPr>
              <a:lnSpc>
                <a:spcPct val="112000"/>
              </a:lnSpc>
              <a:spcAft>
                <a:spcPts val="700"/>
              </a:spcAft>
            </a:pPr>
            <a:r>
              <a:rPr lang="vi-VN" sz="2100" b="0">
                <a:solidFill>
                  <a:srgbClr val="172033"/>
                </a:solidFill>
                <a:latin typeface="Arial"/>
                <a:ea typeface="Arial"/>
                <a:cs typeface="Arial"/>
              </a:rPr>
              <a:t>Hộp thư có số tin chưa đọc.</a:t>
            </a:r>
            <a:endParaRPr lang="vi-VN" sz="2100"/>
          </a:p>
        </p:txBody>
      </p:sp>
      <p:sp>
        <p:nvSpPr>
          <p:cNvPr id="4" name="text-12-4"/>
          <p:cNvSpPr txBox="1"/>
          <p:nvPr/>
        </p:nvSpPr>
        <p:spPr>
          <a:xfrm>
            <a:off x="609600" y="4953000"/>
            <a:ext cx="4953000" cy="1123950"/>
          </a:xfrm>
          <a:prstGeom prst="rect">
            <a:avLst/>
          </a:prstGeom>
          <a:noFill/>
          <a:ln>
            <a:noFill/>
          </a:ln>
        </p:spPr>
        <p:txBody>
          <a:bodyPr wrap="square" lIns="0" tIns="0" rIns="0" bIns="0" anchor="t">
            <a:noAutofit/>
          </a:bodyPr>
          <a:lstStyle/>
          <a:p>
            <a:pPr>
              <a:lnSpc>
                <a:spcPct val="112000"/>
              </a:lnSpc>
              <a:spcAft>
                <a:spcPts val="700"/>
              </a:spcAft>
            </a:pPr>
            <a:r>
              <a:rPr lang="vi-VN" sz="1875" b="0">
                <a:solidFill>
                  <a:srgbClr val="64748B"/>
                </a:solidFill>
                <a:latin typeface="Arial"/>
                <a:ea typeface="Arial"/>
                <a:cs typeface="Arial"/>
              </a:rPr>
              <a:t>SOS ưu tiên tới Admin và có lịch sử xử lý. FCM cần cấu hình Firebase riêng.</a:t>
            </a:r>
            <a:endParaRPr lang="vi-VN" sz="1875"/>
          </a:p>
        </p:txBody>
      </p:sp>
      <p:pic>
        <p:nvPicPr>
          <p:cNvPr id="5" name="image-5" descr="Ảnh giao diện dữ liệu DEMO hoặc sơ đồ chat"/>
          <p:cNvPicPr>
            <a:picLocks noChangeAspect="1"/>
          </p:cNvPicPr>
          <p:nvPr/>
        </p:nvPicPr>
        <p:blipFill>
          <a:blip r:embed="rId3"/>
          <a:srcRect l="17778" t="8000" r="17778" b="79500"/>
          <a:stretch>
            <a:fillRect/>
          </a:stretch>
        </p:blipFill>
        <p:spPr>
          <a:xfrm>
            <a:off x="6096000" y="1892683"/>
            <a:ext cx="5486400" cy="739009"/>
          </a:xfrm>
          <a:prstGeom prst="rect">
            <a:avLst/>
          </a:prstGeom>
        </p:spPr>
      </p:pic>
      <p:pic>
        <p:nvPicPr>
          <p:cNvPr id="6" name="image-6" descr="Ảnh giao diện dữ liệu DEMO hoặc sơ đồ chat"/>
          <p:cNvPicPr>
            <a:picLocks noChangeAspect="1"/>
          </p:cNvPicPr>
          <p:nvPr/>
        </p:nvPicPr>
        <p:blipFill>
          <a:blip r:embed="rId3"/>
          <a:srcRect l="17778" t="67000" r="17778" b="2500"/>
          <a:stretch>
            <a:fillRect/>
          </a:stretch>
        </p:blipFill>
        <p:spPr>
          <a:xfrm>
            <a:off x="6096000" y="3537059"/>
            <a:ext cx="5486400" cy="1803181"/>
          </a:xfrm>
          <a:prstGeom prst="rect">
            <a:avLst/>
          </a:prstGeom>
        </p:spPr>
      </p:pic>
      <p:sp>
        <p:nvSpPr>
          <p:cNvPr id="7" name="text-12-7"/>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Trao đổi realtime và báo cáo sự cố</a:t>
            </a:r>
            <a:endParaRPr lang="vi-VN" sz="3150"/>
          </a:p>
        </p:txBody>
      </p:sp>
      <p:sp>
        <p:nvSpPr>
          <p:cNvPr id="8" name="text-12-8"/>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9" name="text-12-9"/>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12</a:t>
            </a:r>
            <a:endParaRPr lang="vi-VN" sz="10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hoXay 13">
    <p:bg>
      <p:bgPr>
        <a:solidFill>
          <a:srgbClr val="FFFFFF"/>
        </a:solidFill>
        <a:effectLst/>
      </p:bgPr>
    </p:bg>
    <p:spTree>
      <p:nvGrpSpPr>
        <p:cNvPr id="1" name=""/>
        <p:cNvGrpSpPr/>
        <p:nvPr/>
      </p:nvGrpSpPr>
      <p:grpSpPr>
        <a:xfrm>
          <a:off x="0" y="0"/>
          <a:ext cx="0" cy="0"/>
          <a:chOff x="0" y="0"/>
          <a:chExt cx="0" cy="0"/>
        </a:xfrm>
      </p:grpSpPr>
      <p:sp>
        <p:nvSpPr>
          <p:cNvPr id="2" name="text-13-2"/>
          <p:cNvSpPr txBox="1"/>
          <p:nvPr/>
        </p:nvSpPr>
        <p:spPr>
          <a:xfrm>
            <a:off x="609600" y="1543050"/>
            <a:ext cx="10972800" cy="609600"/>
          </a:xfrm>
          <a:prstGeom prst="rect">
            <a:avLst/>
          </a:prstGeom>
          <a:noFill/>
          <a:ln>
            <a:noFill/>
          </a:ln>
        </p:spPr>
        <p:txBody>
          <a:bodyPr wrap="square" lIns="0" tIns="0" rIns="0" bIns="0" anchor="t">
            <a:noAutofit/>
          </a:bodyPr>
          <a:lstStyle/>
          <a:p>
            <a:pPr>
              <a:lnSpc>
                <a:spcPct val="112000"/>
              </a:lnSpc>
              <a:spcAft>
                <a:spcPts val="700"/>
              </a:spcAft>
            </a:pPr>
            <a:r>
              <a:rPr lang="vi-VN" sz="1875" b="0">
                <a:solidFill>
                  <a:srgbClr val="64748B"/>
                </a:solidFill>
                <a:latin typeface="Arial"/>
                <a:ea typeface="Arial"/>
                <a:cs typeface="Arial"/>
              </a:rPr>
              <a:t>Kiểm tra ảnh tự động, Admin duyệt danh tính. Ảnh dưới đây có dấu DEMO.</a:t>
            </a:r>
            <a:endParaRPr lang="vi-VN" sz="1875"/>
          </a:p>
        </p:txBody>
      </p:sp>
      <p:pic>
        <p:nvPicPr>
          <p:cNvPr id="3" name="image-3" descr="Ảnh giao diện dữ liệu DEMO hoặc sơ đồ kyc-admin"/>
          <p:cNvPicPr>
            <a:picLocks noChangeAspect="1"/>
          </p:cNvPicPr>
          <p:nvPr/>
        </p:nvPicPr>
        <p:blipFill>
          <a:blip r:embed="rId3"/>
          <a:srcRect l="10417" t="17100" r="10417" b="17100"/>
          <a:stretch>
            <a:fillRect/>
          </a:stretch>
        </p:blipFill>
        <p:spPr>
          <a:xfrm>
            <a:off x="2498503" y="2152650"/>
            <a:ext cx="7194994" cy="4152900"/>
          </a:xfrm>
          <a:prstGeom prst="rect">
            <a:avLst/>
          </a:prstGeom>
        </p:spPr>
      </p:pic>
      <p:sp>
        <p:nvSpPr>
          <p:cNvPr id="4" name="text-13-4"/>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172033"/>
                </a:solidFill>
                <a:latin typeface="Arial"/>
                <a:ea typeface="Arial"/>
                <a:cs typeface="Arial"/>
              </a:rPr>
              <a:t>Admin duyệt KYC bằng hai mặt ảnh</a:t>
            </a:r>
            <a:endParaRPr lang="vi-VN" sz="3150"/>
          </a:p>
        </p:txBody>
      </p:sp>
      <p:sp>
        <p:nvSpPr>
          <p:cNvPr id="5" name="text-13-5"/>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ThoXay</a:t>
            </a:r>
            <a:endParaRPr lang="vi-VN" sz="1050"/>
          </a:p>
        </p:txBody>
      </p:sp>
      <p:sp>
        <p:nvSpPr>
          <p:cNvPr id="6" name="text-13-6"/>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64748B"/>
                </a:solidFill>
                <a:latin typeface="Arial"/>
                <a:ea typeface="Arial"/>
                <a:cs typeface="Arial"/>
              </a:rPr>
              <a:t>13</a:t>
            </a:r>
            <a:endParaRPr lang="vi-VN" sz="10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oXay 14">
    <p:bg>
      <p:bgPr>
        <a:solidFill>
          <a:srgbClr val="0F172A"/>
        </a:solidFill>
        <a:effectLst/>
      </p:bgPr>
    </p:bg>
    <p:spTree>
      <p:nvGrpSpPr>
        <p:cNvPr id="1" name=""/>
        <p:cNvGrpSpPr/>
        <p:nvPr/>
      </p:nvGrpSpPr>
      <p:grpSpPr>
        <a:xfrm>
          <a:off x="0" y="0"/>
          <a:ext cx="0" cy="0"/>
          <a:chOff x="0" y="0"/>
          <a:chExt cx="0" cy="0"/>
        </a:xfrm>
      </p:grpSpPr>
      <p:sp>
        <p:nvSpPr>
          <p:cNvPr id="2" name="text-14-2"/>
          <p:cNvSpPr txBox="1"/>
          <p:nvPr/>
        </p:nvSpPr>
        <p:spPr>
          <a:xfrm>
            <a:off x="609600" y="1952625"/>
            <a:ext cx="3238500" cy="1143000"/>
          </a:xfrm>
          <a:prstGeom prst="rect">
            <a:avLst/>
          </a:prstGeom>
          <a:noFill/>
          <a:ln>
            <a:noFill/>
          </a:ln>
        </p:spPr>
        <p:txBody>
          <a:bodyPr wrap="square" lIns="0" tIns="0" rIns="0" bIns="0" anchor="t">
            <a:noAutofit/>
          </a:bodyPr>
          <a:lstStyle/>
          <a:p>
            <a:pPr>
              <a:lnSpc>
                <a:spcPct val="112000"/>
              </a:lnSpc>
              <a:spcAft>
                <a:spcPts val="700"/>
              </a:spcAft>
            </a:pPr>
            <a:r>
              <a:rPr lang="vi-VN" sz="6600" b="1">
                <a:solidFill>
                  <a:srgbClr val="FFFFFF"/>
                </a:solidFill>
                <a:latin typeface="Arial"/>
                <a:ea typeface="Arial"/>
                <a:cs typeface="Arial"/>
              </a:rPr>
              <a:t>125</a:t>
            </a:r>
            <a:endParaRPr lang="vi-VN" sz="6600"/>
          </a:p>
        </p:txBody>
      </p:sp>
      <p:sp>
        <p:nvSpPr>
          <p:cNvPr id="3" name="text-14-3"/>
          <p:cNvSpPr txBox="1"/>
          <p:nvPr/>
        </p:nvSpPr>
        <p:spPr>
          <a:xfrm>
            <a:off x="609600" y="3209925"/>
            <a:ext cx="3238500" cy="4762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CBD5E1"/>
                </a:solidFill>
                <a:latin typeface="Arial"/>
                <a:ea typeface="Arial"/>
                <a:cs typeface="Arial"/>
              </a:rPr>
              <a:t>Backend</a:t>
            </a:r>
            <a:endParaRPr lang="vi-VN" sz="2100"/>
          </a:p>
        </p:txBody>
      </p:sp>
      <p:sp>
        <p:nvSpPr>
          <p:cNvPr id="4" name="text-14-4"/>
          <p:cNvSpPr txBox="1"/>
          <p:nvPr/>
        </p:nvSpPr>
        <p:spPr>
          <a:xfrm>
            <a:off x="4495800" y="1952625"/>
            <a:ext cx="3238500" cy="1143000"/>
          </a:xfrm>
          <a:prstGeom prst="rect">
            <a:avLst/>
          </a:prstGeom>
          <a:noFill/>
          <a:ln>
            <a:noFill/>
          </a:ln>
        </p:spPr>
        <p:txBody>
          <a:bodyPr wrap="square" lIns="0" tIns="0" rIns="0" bIns="0" anchor="t">
            <a:noAutofit/>
          </a:bodyPr>
          <a:lstStyle/>
          <a:p>
            <a:pPr>
              <a:lnSpc>
                <a:spcPct val="112000"/>
              </a:lnSpc>
              <a:spcAft>
                <a:spcPts val="700"/>
              </a:spcAft>
            </a:pPr>
            <a:r>
              <a:rPr lang="vi-VN" sz="6600" b="1">
                <a:solidFill>
                  <a:srgbClr val="FDBA74"/>
                </a:solidFill>
                <a:latin typeface="Arial"/>
                <a:ea typeface="Arial"/>
                <a:cs typeface="Arial"/>
              </a:rPr>
              <a:t>110</a:t>
            </a:r>
            <a:endParaRPr lang="vi-VN" sz="6600"/>
          </a:p>
        </p:txBody>
      </p:sp>
      <p:sp>
        <p:nvSpPr>
          <p:cNvPr id="5" name="text-14-5"/>
          <p:cNvSpPr txBox="1"/>
          <p:nvPr/>
        </p:nvSpPr>
        <p:spPr>
          <a:xfrm>
            <a:off x="4495800" y="3209925"/>
            <a:ext cx="3238500" cy="4762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CBD5E1"/>
                </a:solidFill>
                <a:latin typeface="Arial"/>
                <a:ea typeface="Arial"/>
                <a:cs typeface="Arial"/>
              </a:rPr>
              <a:t>Flutter</a:t>
            </a:r>
            <a:endParaRPr lang="vi-VN" sz="2100"/>
          </a:p>
        </p:txBody>
      </p:sp>
      <p:sp>
        <p:nvSpPr>
          <p:cNvPr id="6" name="text-14-6"/>
          <p:cNvSpPr txBox="1"/>
          <p:nvPr/>
        </p:nvSpPr>
        <p:spPr>
          <a:xfrm>
            <a:off x="8382000" y="1952625"/>
            <a:ext cx="3143250" cy="1143000"/>
          </a:xfrm>
          <a:prstGeom prst="rect">
            <a:avLst/>
          </a:prstGeom>
          <a:noFill/>
          <a:ln>
            <a:noFill/>
          </a:ln>
        </p:spPr>
        <p:txBody>
          <a:bodyPr wrap="square" lIns="0" tIns="0" rIns="0" bIns="0" anchor="t">
            <a:noAutofit/>
          </a:bodyPr>
          <a:lstStyle/>
          <a:p>
            <a:pPr>
              <a:lnSpc>
                <a:spcPct val="112000"/>
              </a:lnSpc>
              <a:spcAft>
                <a:spcPts val="700"/>
              </a:spcAft>
            </a:pPr>
            <a:r>
              <a:rPr lang="vi-VN" sz="6600" b="1">
                <a:solidFill>
                  <a:srgbClr val="6EE7B7"/>
                </a:solidFill>
                <a:latin typeface="Arial"/>
                <a:ea typeface="Arial"/>
                <a:cs typeface="Arial"/>
              </a:rPr>
              <a:t>12</a:t>
            </a:r>
            <a:endParaRPr lang="vi-VN" sz="6600"/>
          </a:p>
        </p:txBody>
      </p:sp>
      <p:sp>
        <p:nvSpPr>
          <p:cNvPr id="7" name="text-14-7"/>
          <p:cNvSpPr txBox="1"/>
          <p:nvPr/>
        </p:nvSpPr>
        <p:spPr>
          <a:xfrm>
            <a:off x="8382000" y="3209925"/>
            <a:ext cx="3143250" cy="4762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CBD5E1"/>
                </a:solidFill>
                <a:latin typeface="Arial"/>
                <a:ea typeface="Arial"/>
                <a:cs typeface="Arial"/>
              </a:rPr>
              <a:t>JavaScript</a:t>
            </a:r>
            <a:endParaRPr lang="vi-VN" sz="2100"/>
          </a:p>
        </p:txBody>
      </p:sp>
      <p:sp>
        <p:nvSpPr>
          <p:cNvPr id="8" name="text-14-8"/>
          <p:cNvSpPr txBox="1"/>
          <p:nvPr/>
        </p:nvSpPr>
        <p:spPr>
          <a:xfrm>
            <a:off x="609600" y="4210050"/>
            <a:ext cx="10972800" cy="666750"/>
          </a:xfrm>
          <a:prstGeom prst="rect">
            <a:avLst/>
          </a:prstGeom>
          <a:noFill/>
          <a:ln>
            <a:noFill/>
          </a:ln>
        </p:spPr>
        <p:txBody>
          <a:bodyPr wrap="square" lIns="0" tIns="0" rIns="0" bIns="0" anchor="t">
            <a:noAutofit/>
          </a:bodyPr>
          <a:lstStyle/>
          <a:p>
            <a:pPr>
              <a:lnSpc>
                <a:spcPct val="112000"/>
              </a:lnSpc>
              <a:spcAft>
                <a:spcPts val="700"/>
              </a:spcAft>
            </a:pPr>
            <a:r>
              <a:rPr lang="vi-VN" sz="2175" b="0">
                <a:solidFill>
                  <a:srgbClr val="FFFFFF"/>
                </a:solidFill>
                <a:latin typeface="Arial"/>
                <a:ea typeface="Arial"/>
                <a:cs typeface="Arial"/>
              </a:rPr>
              <a:t>Toàn bộ test trên pass. Thêm 6 test Python bảo vệ seed.</a:t>
            </a:r>
            <a:endParaRPr lang="vi-VN" sz="2175"/>
          </a:p>
        </p:txBody>
      </p:sp>
      <p:sp>
        <p:nvSpPr>
          <p:cNvPr id="9" name="text-14-9"/>
          <p:cNvSpPr txBox="1"/>
          <p:nvPr/>
        </p:nvSpPr>
        <p:spPr>
          <a:xfrm>
            <a:off x="609600" y="5200650"/>
            <a:ext cx="10972800" cy="762000"/>
          </a:xfrm>
          <a:prstGeom prst="rect">
            <a:avLst/>
          </a:prstGeom>
          <a:noFill/>
          <a:ln>
            <a:noFill/>
          </a:ln>
        </p:spPr>
        <p:txBody>
          <a:bodyPr wrap="square" lIns="0" tIns="0" rIns="0" bIns="0" anchor="t">
            <a:noAutofit/>
          </a:bodyPr>
          <a:lstStyle/>
          <a:p>
            <a:pPr>
              <a:lnSpc>
                <a:spcPct val="112000"/>
              </a:lnSpc>
              <a:spcAft>
                <a:spcPts val="700"/>
              </a:spcAft>
            </a:pPr>
            <a:r>
              <a:rPr lang="vi-VN" sz="1950" b="0">
                <a:solidFill>
                  <a:srgbClr val="CBD5E1"/>
                </a:solidFill>
                <a:latin typeface="Arial"/>
                <a:ea typeface="Arial"/>
                <a:cs typeface="Arial"/>
              </a:rPr>
              <a:t>JAR và Web release đã build. GitHub Actions kiểm tra cloud và tạo APK.</a:t>
            </a:r>
            <a:endParaRPr lang="vi-VN" sz="1950"/>
          </a:p>
        </p:txBody>
      </p:sp>
      <p:sp>
        <p:nvSpPr>
          <p:cNvPr id="10" name="text-14-10"/>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FFFFFF"/>
                </a:solidFill>
                <a:latin typeface="Arial"/>
                <a:ea typeface="Arial"/>
                <a:cs typeface="Arial"/>
              </a:rPr>
              <a:t>Kết quả kiểm thử và phát hành</a:t>
            </a:r>
            <a:endParaRPr lang="vi-VN" sz="3150"/>
          </a:p>
        </p:txBody>
      </p:sp>
      <p:sp>
        <p:nvSpPr>
          <p:cNvPr id="11" name="text-14-11"/>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ThoXay</a:t>
            </a:r>
            <a:endParaRPr lang="vi-VN" sz="1050"/>
          </a:p>
        </p:txBody>
      </p:sp>
      <p:sp>
        <p:nvSpPr>
          <p:cNvPr id="12" name="text-14-12"/>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14</a:t>
            </a:r>
            <a:endParaRPr lang="vi-VN" sz="10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hoXay 15">
    <p:bg>
      <p:bgPr>
        <a:solidFill>
          <a:srgbClr val="0F172A"/>
        </a:solidFill>
        <a:effectLst/>
      </p:bgPr>
    </p:bg>
    <p:spTree>
      <p:nvGrpSpPr>
        <p:cNvPr id="1" name=""/>
        <p:cNvGrpSpPr/>
        <p:nvPr/>
      </p:nvGrpSpPr>
      <p:grpSpPr>
        <a:xfrm>
          <a:off x="0" y="0"/>
          <a:ext cx="0" cy="0"/>
          <a:chOff x="0" y="0"/>
          <a:chExt cx="0" cy="0"/>
        </a:xfrm>
      </p:grpSpPr>
      <p:sp>
        <p:nvSpPr>
          <p:cNvPr id="2" name="text-15-2"/>
          <p:cNvSpPr txBox="1"/>
          <p:nvPr/>
        </p:nvSpPr>
        <p:spPr>
          <a:xfrm>
            <a:off x="609600" y="1857375"/>
            <a:ext cx="10972800" cy="666750"/>
          </a:xfrm>
          <a:prstGeom prst="rect">
            <a:avLst/>
          </a:prstGeom>
          <a:noFill/>
          <a:ln>
            <a:noFill/>
          </a:ln>
        </p:spPr>
        <p:txBody>
          <a:bodyPr wrap="square" lIns="0" tIns="0" rIns="0" bIns="0" anchor="t">
            <a:noAutofit/>
          </a:bodyPr>
          <a:lstStyle/>
          <a:p>
            <a:pPr>
              <a:lnSpc>
                <a:spcPct val="112000"/>
              </a:lnSpc>
              <a:spcAft>
                <a:spcPts val="700"/>
              </a:spcAft>
            </a:pPr>
            <a:r>
              <a:rPr lang="vi-VN" sz="2700" b="1">
                <a:solidFill>
                  <a:srgbClr val="FFFFFF"/>
                </a:solidFill>
                <a:latin typeface="Arial"/>
                <a:ea typeface="Arial"/>
                <a:cs typeface="Arial"/>
              </a:rPr>
              <a:t>Quy trình hợp tác có dữ liệu kiểm chứng</a:t>
            </a:r>
            <a:endParaRPr lang="vi-VN" sz="2700"/>
          </a:p>
        </p:txBody>
      </p:sp>
      <p:sp>
        <p:nvSpPr>
          <p:cNvPr id="3" name="text-15-3"/>
          <p:cNvSpPr txBox="1"/>
          <p:nvPr/>
        </p:nvSpPr>
        <p:spPr>
          <a:xfrm>
            <a:off x="609600" y="2857500"/>
            <a:ext cx="10572750" cy="857250"/>
          </a:xfrm>
          <a:prstGeom prst="rect">
            <a:avLst/>
          </a:prstGeom>
          <a:noFill/>
          <a:ln>
            <a:noFill/>
          </a:ln>
        </p:spPr>
        <p:txBody>
          <a:bodyPr wrap="square" lIns="0" tIns="0" rIns="0" bIns="0" anchor="t">
            <a:noAutofit/>
          </a:bodyPr>
          <a:lstStyle/>
          <a:p>
            <a:pPr>
              <a:lnSpc>
                <a:spcPct val="112000"/>
              </a:lnSpc>
              <a:spcAft>
                <a:spcPts val="700"/>
              </a:spcAft>
            </a:pPr>
            <a:r>
              <a:rPr lang="vi-VN" sz="2250" b="0">
                <a:solidFill>
                  <a:srgbClr val="CBD5E1"/>
                </a:solidFill>
                <a:latin typeface="Arial"/>
                <a:ea typeface="Arial"/>
                <a:cs typeface="Arial"/>
              </a:rPr>
              <a:t>Tìm việc, cam kết, ca làm, đánh giá và sổ ví đã kết nối.</a:t>
            </a:r>
            <a:endParaRPr lang="vi-VN" sz="2250"/>
          </a:p>
        </p:txBody>
      </p:sp>
      <p:sp>
        <p:nvSpPr>
          <p:cNvPr id="4" name="text-15-4"/>
          <p:cNvSpPr txBox="1"/>
          <p:nvPr/>
        </p:nvSpPr>
        <p:spPr>
          <a:xfrm>
            <a:off x="609600" y="4124325"/>
            <a:ext cx="10572750" cy="457200"/>
          </a:xfrm>
          <a:prstGeom prst="rect">
            <a:avLst/>
          </a:prstGeom>
          <a:noFill/>
          <a:ln>
            <a:noFill/>
          </a:ln>
        </p:spPr>
        <p:txBody>
          <a:bodyPr wrap="square" lIns="0" tIns="0" rIns="0" bIns="0" anchor="t">
            <a:noAutofit/>
          </a:bodyPr>
          <a:lstStyle/>
          <a:p>
            <a:pPr>
              <a:lnSpc>
                <a:spcPct val="112000"/>
              </a:lnSpc>
              <a:spcAft>
                <a:spcPts val="700"/>
              </a:spcAft>
            </a:pPr>
            <a:r>
              <a:rPr lang="vi-VN" sz="2100" b="1">
                <a:solidFill>
                  <a:srgbClr val="FDBA74"/>
                </a:solidFill>
                <a:latin typeface="Arial"/>
                <a:ea typeface="Arial"/>
                <a:cs typeface="Arial"/>
              </a:rPr>
              <a:t>Tiếp theo</a:t>
            </a:r>
            <a:endParaRPr lang="vi-VN" sz="2100"/>
          </a:p>
        </p:txBody>
      </p:sp>
      <p:sp>
        <p:nvSpPr>
          <p:cNvPr id="5" name="text-15-5"/>
          <p:cNvSpPr txBox="1"/>
          <p:nvPr/>
        </p:nvSpPr>
        <p:spPr>
          <a:xfrm>
            <a:off x="609600" y="4772025"/>
            <a:ext cx="10572750" cy="1047750"/>
          </a:xfrm>
          <a:prstGeom prst="rect">
            <a:avLst/>
          </a:prstGeom>
          <a:noFill/>
          <a:ln>
            <a:noFill/>
          </a:ln>
        </p:spPr>
        <p:txBody>
          <a:bodyPr wrap="square" lIns="0" tIns="0" rIns="0" bIns="0" anchor="t">
            <a:noAutofit/>
          </a:bodyPr>
          <a:lstStyle/>
          <a:p>
            <a:pPr>
              <a:lnSpc>
                <a:spcPct val="112000"/>
              </a:lnSpc>
              <a:spcAft>
                <a:spcPts val="700"/>
              </a:spcAft>
            </a:pPr>
            <a:r>
              <a:rPr lang="vi-VN" sz="2100" b="0">
                <a:solidFill>
                  <a:srgbClr val="CBD5E1"/>
                </a:solidFill>
                <a:latin typeface="Arial"/>
                <a:ea typeface="Arial"/>
                <a:cs typeface="Arial"/>
              </a:rPr>
              <a:t>Nghiệm thu thiết bị, ca qua đêm, quan trắc và backup.</a:t>
            </a:r>
            <a:endParaRPr lang="vi-VN" sz="2100"/>
          </a:p>
          <a:p>
            <a:pPr>
              <a:lnSpc>
                <a:spcPct val="112000"/>
              </a:lnSpc>
              <a:spcAft>
                <a:spcPts val="700"/>
              </a:spcAft>
            </a:pPr>
            <a:r>
              <a:rPr lang="vi-VN" sz="2100" b="0">
                <a:solidFill>
                  <a:srgbClr val="CBD5E1"/>
                </a:solidFill>
                <a:latin typeface="Arial"/>
                <a:ea typeface="Arial"/>
                <a:cs typeface="Arial"/>
              </a:rPr>
              <a:t>FCM, eKYC và ngân hàng thật khi có dịch vụ phù hợp.</a:t>
            </a:r>
            <a:endParaRPr lang="vi-VN" sz="2100"/>
          </a:p>
        </p:txBody>
      </p:sp>
      <p:sp>
        <p:nvSpPr>
          <p:cNvPr id="6" name="text-15-6"/>
          <p:cNvSpPr txBox="1"/>
          <p:nvPr/>
        </p:nvSpPr>
        <p:spPr>
          <a:xfrm>
            <a:off x="609600" y="457200"/>
            <a:ext cx="10972800" cy="1028700"/>
          </a:xfrm>
          <a:prstGeom prst="rect">
            <a:avLst/>
          </a:prstGeom>
          <a:noFill/>
          <a:ln>
            <a:noFill/>
          </a:ln>
        </p:spPr>
        <p:txBody>
          <a:bodyPr wrap="square" lIns="0" tIns="0" rIns="0" bIns="0" anchor="t">
            <a:noAutofit/>
          </a:bodyPr>
          <a:lstStyle/>
          <a:p>
            <a:pPr>
              <a:lnSpc>
                <a:spcPct val="112000"/>
              </a:lnSpc>
              <a:spcAft>
                <a:spcPts val="700"/>
              </a:spcAft>
            </a:pPr>
            <a:r>
              <a:rPr lang="vi-VN" sz="3150" b="1">
                <a:solidFill>
                  <a:srgbClr val="FFFFFF"/>
                </a:solidFill>
                <a:latin typeface="Arial"/>
                <a:ea typeface="Arial"/>
                <a:cs typeface="Arial"/>
              </a:rPr>
              <a:t>Kết quả và hướng phát triển</a:t>
            </a:r>
            <a:endParaRPr lang="vi-VN" sz="3150"/>
          </a:p>
        </p:txBody>
      </p:sp>
      <p:sp>
        <p:nvSpPr>
          <p:cNvPr id="7" name="text-15-7"/>
          <p:cNvSpPr txBox="1"/>
          <p:nvPr/>
        </p:nvSpPr>
        <p:spPr>
          <a:xfrm>
            <a:off x="609600" y="6448425"/>
            <a:ext cx="952500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ThoXay</a:t>
            </a:r>
            <a:endParaRPr lang="vi-VN" sz="1050"/>
          </a:p>
        </p:txBody>
      </p:sp>
      <p:sp>
        <p:nvSpPr>
          <p:cNvPr id="8" name="text-15-8"/>
          <p:cNvSpPr txBox="1"/>
          <p:nvPr/>
        </p:nvSpPr>
        <p:spPr>
          <a:xfrm>
            <a:off x="11144250" y="6448425"/>
            <a:ext cx="438150" cy="228600"/>
          </a:xfrm>
          <a:prstGeom prst="rect">
            <a:avLst/>
          </a:prstGeom>
          <a:noFill/>
          <a:ln>
            <a:noFill/>
          </a:ln>
        </p:spPr>
        <p:txBody>
          <a:bodyPr wrap="square" lIns="0" tIns="0" rIns="0" bIns="0" anchor="t">
            <a:noAutofit/>
          </a:bodyPr>
          <a:lstStyle/>
          <a:p>
            <a:pPr>
              <a:lnSpc>
                <a:spcPct val="112000"/>
              </a:lnSpc>
              <a:spcAft>
                <a:spcPts val="700"/>
              </a:spcAft>
            </a:pPr>
            <a:r>
              <a:rPr lang="vi-VN" sz="1050" b="0">
                <a:solidFill>
                  <a:srgbClr val="CBD5E1"/>
                </a:solidFill>
                <a:latin typeface="Arial"/>
                <a:ea typeface="Arial"/>
                <a:cs typeface="Arial"/>
              </a:rPr>
              <a:t>15</a:t>
            </a:r>
            <a:endParaRPr lang="vi-VN" sz="1050"/>
          </a:p>
        </p:txBody>
      </p:sp>
    </p:spTree>
  </p:cSld>
  <p:clrMapOvr>
    <a:masterClrMapping/>
  </p:clrMapOvr>
</p:sld>
</file>

<file path=ppt/theme/theme1.xml><?xml version="1.0" encoding="utf-8"?>
<a:theme xmlns:a="http://schemas.openxmlformats.org/drawingml/2006/main" name="ThoXay">
  <a:themeElements>
    <a:clrScheme name="ThoXay">
      <a:dk1>
        <a:srgbClr val="0F172A"/>
      </a:dk1>
      <a:lt1>
        <a:srgbClr val="FFFFFF"/>
      </a:lt1>
      <a:dk2>
        <a:srgbClr val="172033"/>
      </a:dk2>
      <a:lt2>
        <a:srgbClr val="F1F5F9"/>
      </a:lt2>
      <a:accent1>
        <a:srgbClr val="EA580C"/>
      </a:accent1>
      <a:accent2>
        <a:srgbClr val="059669"/>
      </a:accent2>
      <a:accent3>
        <a:srgbClr val="3B82F6"/>
      </a:accent3>
      <a:accent4>
        <a:srgbClr val="64748B"/>
      </a:accent4>
      <a:accent5>
        <a:srgbClr val="FBBF24"/>
      </a:accent5>
      <a:accent6>
        <a:srgbClr val="0F172A"/>
      </a:accent6>
      <a:hlink>
        <a:srgbClr val="2563EB"/>
      </a:hlink>
      <a:folHlink>
        <a:srgbClr val="7C3AED"/>
      </a:folHlink>
    </a:clrScheme>
    <a:fontScheme name="Arial">
      <a:majorFont>
        <a:latin typeface="Arial"/>
        <a:ea typeface="Arial"/>
        <a:cs typeface="Arial"/>
      </a:majorFont>
      <a:minorFont>
        <a:latin typeface="Arial"/>
        <a:ea typeface="Arial"/>
        <a:cs typeface="Arial"/>
      </a:minorFont>
    </a:fontScheme>
    <a:fmtScheme name="ThoXay">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2533</Words>
  <Application>Microsoft Office PowerPoint</Application>
  <PresentationFormat>Widescreen</PresentationFormat>
  <Paragraphs>138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ThoXay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 Thiet</cp:lastModifiedBy>
  <cp:revision>1</cp:revision>
  <dcterms:modified xsi:type="dcterms:W3CDTF">2026-10-30T16:41:51Z</dcterms:modified>
</cp:coreProperties>
</file>